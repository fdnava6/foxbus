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7feddb9069746d1" /><Relationship Type="http://schemas.openxmlformats.org/officeDocument/2006/relationships/extended-properties" Target="/docProps/app.xml" Id="R827ed935b559456e" /><Relationship Type="http://schemas.openxmlformats.org/officeDocument/2006/relationships/officeDocument" Target="/ppt/presentation.xml" Id="Rb6ce032b5bac49ad" /></Relationships>
</file>

<file path=ppt/presentation.xml><?xml version="1.0" encoding="utf-8"?>
<p:presentation xmlns:p="http://schemas.openxmlformats.org/presentationml/2006/main">
  <p:sldMasterIdLst>
    <p:sldMasterId xmlns:r="http://schemas.openxmlformats.org/officeDocument/2006/relationships" id="2147483648" r:id="Rf9b2e44e012c455c"/>
  </p:sldMasterIdLst>
  <p:notesMasterIdLst>
    <p:notesMasterId xmlns:r="http://schemas.openxmlformats.org/officeDocument/2006/relationships" r:id="Rb4846729cfcb4441"/>
  </p:notesMasterIdLst>
  <p:sldIdLst>
    <p:sldId xmlns:r="http://schemas.openxmlformats.org/officeDocument/2006/relationships" id="256" r:id="R69f9c2f332b0438c"/>
    <p:sldId xmlns:r="http://schemas.openxmlformats.org/officeDocument/2006/relationships" id="257" r:id="R7da8f3de57434ee5"/>
    <p:sldId xmlns:r="http://schemas.openxmlformats.org/officeDocument/2006/relationships" id="258" r:id="R75011c2e5c744795"/>
    <p:sldId xmlns:r="http://schemas.openxmlformats.org/officeDocument/2006/relationships" id="259" r:id="Rb3af8b8d790a4356"/>
    <p:sldId xmlns:r="http://schemas.openxmlformats.org/officeDocument/2006/relationships" id="260" r:id="R36203a3ce57c499e"/>
    <p:sldId xmlns:r="http://schemas.openxmlformats.org/officeDocument/2006/relationships" id="261" r:id="R11434f3cdc7c469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5c7faa6a08e4c56" /><Relationship Type="http://schemas.openxmlformats.org/officeDocument/2006/relationships/slideMaster" Target="/ppt/slideMasters/slideMaster1.xml" Id="Rf9b2e44e012c455c" /><Relationship Type="http://schemas.openxmlformats.org/officeDocument/2006/relationships/notesMaster" Target="/ppt/notesMasters/notesMaster1.xml" Id="Rb4846729cfcb4441" /><Relationship Type="http://schemas.openxmlformats.org/officeDocument/2006/relationships/presProps" Target="/ppt/presProps.xml" Id="Rcece1ecf154c4e25" /><Relationship Type="http://schemas.openxmlformats.org/officeDocument/2006/relationships/tableStyles" Target="/ppt/tableStyles.xml" Id="Re5f000d107eb4a76" /><Relationship Type="http://schemas.openxmlformats.org/officeDocument/2006/relationships/slide" Target="/ppt/slides/slide1.xml" Id="R69f9c2f332b0438c" /><Relationship Type="http://schemas.openxmlformats.org/officeDocument/2006/relationships/slide" Target="/ppt/slides/slide2.xml" Id="R7da8f3de57434ee5" /><Relationship Type="http://schemas.openxmlformats.org/officeDocument/2006/relationships/slide" Target="/ppt/slides/slide3.xml" Id="R75011c2e5c744795" /><Relationship Type="http://schemas.openxmlformats.org/officeDocument/2006/relationships/slide" Target="/ppt/slides/slide4.xml" Id="Rb3af8b8d790a4356" /><Relationship Type="http://schemas.openxmlformats.org/officeDocument/2006/relationships/slide" Target="/ppt/slides/slide5.xml" Id="R36203a3ce57c499e" /><Relationship Type="http://schemas.openxmlformats.org/officeDocument/2006/relationships/slide" Target="/ppt/slides/slide6.xml" Id="R11434f3cdc7c469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a0184389e3b4d7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f79a996bdbc4595" /><Relationship Type="http://schemas.openxmlformats.org/officeDocument/2006/relationships/notesMaster" Target="/ppt/notesMasters/notesMaster1.xml" Id="Rbfbad8954e8d4da4" /></Relationships>
</file>

<file path=ppt/notesSlides/_rels/notesSlide2.xml.rels>&#65279;<?xml version="1.0" encoding="utf-8"?><Relationships xmlns="http://schemas.openxmlformats.org/package/2006/relationships"><Relationship Type="http://schemas.openxmlformats.org/officeDocument/2006/relationships/slide" Target="/ppt/slides/slide2.xml" Id="Rf851ae31a4e8490c" /><Relationship Type="http://schemas.openxmlformats.org/officeDocument/2006/relationships/notesMaster" Target="/ppt/notesMasters/notesMaster1.xml" Id="Rb6b33d36c9de4f7a" /></Relationships>
</file>

<file path=ppt/notesSlides/_rels/notesSlide3.xml.rels>&#65279;<?xml version="1.0" encoding="utf-8"?><Relationships xmlns="http://schemas.openxmlformats.org/package/2006/relationships"><Relationship Type="http://schemas.openxmlformats.org/officeDocument/2006/relationships/slide" Target="/ppt/slides/slide3.xml" Id="Re01bb91c1a434ff9" /><Relationship Type="http://schemas.openxmlformats.org/officeDocument/2006/relationships/notesMaster" Target="/ppt/notesMasters/notesMaster1.xml" Id="R4ca5023dd6bf4fd6" /></Relationships>
</file>

<file path=ppt/notesSlides/_rels/notesSlide4.xml.rels>&#65279;<?xml version="1.0" encoding="utf-8"?><Relationships xmlns="http://schemas.openxmlformats.org/package/2006/relationships"><Relationship Type="http://schemas.openxmlformats.org/officeDocument/2006/relationships/slide" Target="/ppt/slides/slide4.xml" Id="R62c90344fa6f48ca" /><Relationship Type="http://schemas.openxmlformats.org/officeDocument/2006/relationships/notesMaster" Target="/ppt/notesMasters/notesMaster1.xml" Id="R488e6358968f4aa2" /></Relationships>
</file>

<file path=ppt/notesSlides/_rels/notesSlide5.xml.rels>&#65279;<?xml version="1.0" encoding="utf-8"?><Relationships xmlns="http://schemas.openxmlformats.org/package/2006/relationships"><Relationship Type="http://schemas.openxmlformats.org/officeDocument/2006/relationships/slide" Target="/ppt/slides/slide5.xml" Id="Rfd3ea1e00ebf434c" /><Relationship Type="http://schemas.openxmlformats.org/officeDocument/2006/relationships/notesMaster" Target="/ppt/notesMasters/notesMaster1.xml" Id="Rbea5e7a05db647da" /></Relationships>
</file>

<file path=ppt/notesSlides/_rels/notesSlide6.xml.rels>&#65279;<?xml version="1.0" encoding="utf-8"?><Relationships xmlns="http://schemas.openxmlformats.org/package/2006/relationships"><Relationship Type="http://schemas.openxmlformats.org/officeDocument/2006/relationships/slide" Target="/ppt/slides/slide6.xml" Id="R5b84d6e801694cea" /><Relationship Type="http://schemas.openxmlformats.org/officeDocument/2006/relationships/notesMaster" Target="/ppt/notesMasters/notesMaster1.xml" Id="Rfccc3c7a604b495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Lucas Alonso Hernandez Carpio - 15 segundos.</a:t>
            </a:r>
          </a:p>
          <a:p xmlns:a="http://schemas.openxmlformats.org/drawingml/2006/main">
            <a:r>
              <a:t>Buenos días. Somos el Grupo 6 y presentamos FOX Bus, una propuesta para mantener la trazabilidad del pasaje interprovincial desde la compra hasta la atención posventa. Para este avance delimitamos el piloto a la ruta Lima - Trujillo.</a:t>
            </a:r>
          </a:p>
          <a:p xmlns:a="http://schemas.openxmlformats.org/drawingml/2006/main">
            <a:r>
              <a:t>Imagen: captura del prototipo local FOX Bus, 7 de septiembre de 2026. Repositorio: https://github.com/FdNava6/FoxBus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Lucas Alonso Hernandez Carpio - 50 segundos.</a:t>
            </a:r>
          </a:p>
          <a:p xmlns:a="http://schemas.openxmlformats.org/drawingml/2006/main">
            <a:r>
              <a:t>El problema que queremos validar aparece cuando la información del pasaje se reparte entre la compra, el abordaje y la posventa. El pasajero puede perder visibilidad del estado y el personal debe reconstruir la gestión. El sector movilizó más de 96 millones de pasajeros en 2024, lo que confirma su escala, aunque no usamos esa cifra como prueba de la fragmentación. Indecopi también reconoce derechos vinculados con la postergación, la transferencia y la información ante retrasos. Nuestra hipótesis se medirá con usuarios de la ruta Lima - Trujillo.</a:t>
            </a:r>
          </a:p>
          <a:p xmlns:a="http://schemas.openxmlformats.org/drawingml/2006/main">
            <a:r>
              <a:t>Fuentes: https://www.gob.pe/institucion/sutran/noticias/1087273-sutran-mtc-transporte-terrestre-movilizo-mas-de-96-millones-de-pasajeros-a-nivel-nacional-en-2024 ; https://cdn.www.gob.pe/uploads/document/file/6501533/5672660-a3-derecho-pasajeros-transporte-terrestres-indecotip.pdf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Carlos Fernando Loli Pinillos - 55 segundos.</a:t>
            </a:r>
          </a:p>
          <a:p xmlns:a="http://schemas.openxmlformats.org/drawingml/2006/main">
            <a:r>
              <a:t>La solución conserva una misma reserva durante todo el recorrido. El usuario busca el viaje, elige asiento, consulta su estado y encuentra una gestión de posventa desde el mismo canal. Para el abordaje proponemos un código QR y, para la operación, un panel que reúne reservas e incidencias. La innovación no consiste en afirmar que el QR o el chatbot son nuevos. Nuestra diferencia está en conectar esas funciones con un identificador y un estado común. En pantalla se ve la posventa demostrativa que ya funciona en el frontend.</a:t>
            </a:r>
          </a:p>
          <a:p xmlns:a="http://schemas.openxmlformats.org/drawingml/2006/main">
            <a:r>
              <a:t>Fuente del prototipo: https://github.com/FdNava6/FoxBus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Fadia Navarro Julián - 50 segundos.</a:t>
            </a:r>
          </a:p>
          <a:p xmlns:a="http://schemas.openxmlformats.org/drawingml/2006/main">
            <a:r>
              <a:t>El MVP se limita a la ruta Lima - Trujillo. Hoy funcionan la navegación, la búsqueda, la selección de asientos, un checkout demostrativo, Mis viajes, FoxBot y un panel con datos de muestra. Todo lo simulado aparece identificado. En la siguiente iteración planteamos conectar un backend, persistir reservas, definir autenticación y probar QR y pagos. Dejamos fuera el despliegue nacional, el hardware de terminal y la inteligencia artificial predictiva para mantener un alcance que el equipo pueda ejecutar.</a:t>
            </a:r>
          </a:p>
          <a:p xmlns:a="http://schemas.openxmlformats.org/drawingml/2006/main">
            <a:r>
              <a:t>Fuente del prototipo: https://github.com/FdNava6/FoxBus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Lucas Andres Moscoso Sining - 60 segundos.</a:t>
            </a:r>
          </a:p>
          <a:p xmlns:a="http://schemas.openxmlformats.org/drawingml/2006/main">
            <a:r>
              <a:t>La propuesta es viable como prototipo porque el equipo ya dispone de un frontend navegable y trabaja con React, Vite, Tailwind, Router y Zustand. Axios prepara la conexión con una API y Recharts permite representar métricas del operador. Además, el repositorio ejecuta lint, pruebas y build en cada cambio. Proponemos seis semanas: validar el problema, ajustar el diseño, consolidar el frontend, crear una API mínima, probar QR y posventa, y cerrar con pruebas. Los pagos y el hardware quedan condicionados a proveedores y reglas posteriores.</a:t>
            </a:r>
          </a:p>
          <a:p xmlns:a="http://schemas.openxmlformats.org/drawingml/2006/main">
            <a:r>
              <a:t>Fuente técnica: https://github.com/FdNava6/FoxBus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Jaime Israel Aramburu Condori - 45 segundos.</a:t>
            </a:r>
          </a:p>
          <a:p xmlns:a="http://schemas.openxmlformats.org/drawingml/2006/main">
            <a:r>
              <a:t>El siguiente paso es validar con una muestra inicial sugerida de cinco pasajeros y dos personas con experiencia operativa. Observaremos qué canales usan, dónde repiten pasos, si comprenden el estado de la reserva y si encuentran la gestión de posventa adecuada. Esas evidencias decidirán si priorizamos backend, QR o pagos. Con este alcance, FOX Bus cumple el Avance 1: presenta un problema delimitado, una diferencia clara, un prototipo viable y un plan de validación. Gracias.</a:t>
            </a:r>
          </a:p>
          <a:p xmlns:a="http://schemas.openxmlformats.org/drawingml/2006/main">
            <a:r>
              <a:t>Repositorio del proyecto: https://github.com/FdNava6/FoxBus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325b187b71d4f0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5d1ef079db84ff3" /><Relationship Type="http://schemas.openxmlformats.org/officeDocument/2006/relationships/slideLayout" Target="/ppt/slideLayouts/slideLayout1.xml" Id="Rb97c7e9e0dcf437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97c7e9e0dcf437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d906d17182141fd" /><Relationship Type="http://schemas.openxmlformats.org/officeDocument/2006/relationships/image" Target="/ppt/media/image.jpeg" Id="Rf219be6b4fb746a8" /><Relationship Type="http://schemas.openxmlformats.org/officeDocument/2006/relationships/notesSlide" Target="/ppt/notesSlides/notesSlide1.xml" Id="R32883413b3284cb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437bdf01bdb4f72" /><Relationship Type="http://schemas.openxmlformats.org/officeDocument/2006/relationships/notesSlide" Target="/ppt/notesSlides/notesSlide2.xml" Id="R301e0a69e6af4e9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535adf1be084151" /><Relationship Type="http://schemas.openxmlformats.org/officeDocument/2006/relationships/image" Target="/ppt/media/image2.jpeg" Id="R1ff63f593d6d4b7b" /><Relationship Type="http://schemas.openxmlformats.org/officeDocument/2006/relationships/notesSlide" Target="/ppt/notesSlides/notesSlide3.xml" Id="Rb68072e04b1549d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c9106b66bd64e01" /><Relationship Type="http://schemas.openxmlformats.org/officeDocument/2006/relationships/image" Target="/ppt/media/image3.jpeg" Id="R7fd450eaf1ae491f" /><Relationship Type="http://schemas.openxmlformats.org/officeDocument/2006/relationships/notesSlide" Target="/ppt/notesSlides/notesSlide4.xml" Id="R31d3f90f45e34a0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0153cf553944025" /><Relationship Type="http://schemas.openxmlformats.org/officeDocument/2006/relationships/image" Target="/ppt/media/image4.jpeg" Id="R0ba12107f7aa488e" /><Relationship Type="http://schemas.openxmlformats.org/officeDocument/2006/relationships/notesSlide" Target="/ppt/notesSlides/notesSlide5.xml" Id="Rbff02271bd1945c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65dc8c77db1426e" /><Relationship Type="http://schemas.openxmlformats.org/officeDocument/2006/relationships/notesSlide" Target="/ppt/notesSlides/notesSlide6.xml" Id="Rf16c2c4f1a6a4e6b" /></Relationships>
</file>

<file path=ppt/slides/slide1.xml><?xml version="1.0" encoding="utf-8"?>
<p:sld xmlns:p="http://schemas.openxmlformats.org/presentationml/2006/main">
  <p:cSld>
    <p:bg>
      <p:bgPr>
        <a:solidFill xmlns:a="http://schemas.openxmlformats.org/drawingml/2006/main">
          <a:srgbClr val="15182D"/>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f219be6b4fb746a8"/>
          <a:srcRect xmlns:a="http://schemas.openxmlformats.org/drawingml/2006/main" l="0" t="15673" r="0" b="15673"/>
          <a:stretch xmlns:a="http://schemas.openxmlformats.org/drawingml/2006/main">
            <a:fillRect l="0" t="0" r="0" b="0"/>
          </a:stretch>
        </p:blipFill>
        <p:spPr>
          <a:xfrm xmlns:a="http://schemas.openxmlformats.org/drawingml/2006/main">
            <a:off x="6858000" y="0"/>
            <a:ext cx="5334000" cy="6858000"/>
          </a:xfrm>
          <a:prstGeom xmlns:a="http://schemas.openxmlformats.org/drawingml/2006/main" prst="roundRect">
            <a:avLst>
              <a:gd name="adj" fmla="val 2143"/>
            </a:avLst>
          </a:prstGeom>
        </p:spPr>
      </p:pic>
      <p:sp>
        <p:nvSpPr>
          <p:cNvPr id="2" name="">
            <a:extLst xmlns:a="http://schemas.openxmlformats.org/drawingml/2006/main">
              <a:ext uri="{FF2B5EF4-FFF2-40B4-BE49-F238E27FC236}">
                <a16:creationId xmlns:a16="http://schemas.microsoft.com/office/drawing/2014/main" id="{09D5BAAA-DDBE-477A-B765-43D349B656A2}"/>
              </a:ext>
            </a:extLst>
          </p:cNvPr>
          <p:cNvSpPr>
            <a:spLocks xmlns:a="http://schemas.openxmlformats.org/drawingml/2006/main" noGrp="1"/>
          </p:cNvSpPr>
          <p:nvPr/>
        </p:nvSpPr>
        <p:spPr>
          <a:xfrm xmlns:a="http://schemas.openxmlformats.org/drawingml/2006/main">
            <a:off x="0" y="0"/>
            <a:ext cx="7239000" cy="6858000"/>
          </a:xfrm>
          <a:prstGeom xmlns:a="http://schemas.openxmlformats.org/drawingml/2006/main" prst="rect">
            <a:avLst/>
          </a:prstGeom>
          <a:solidFill xmlns:a="http://schemas.openxmlformats.org/drawingml/2006/main">
            <a:srgbClr val="15182D"/>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1D56B54-2455-407F-8BDD-CB428FEAAC06}"/>
              </a:ext>
            </a:extLst>
          </p:cNvPr>
          <p:cNvSpPr>
            <a:spLocks xmlns:a="http://schemas.openxmlformats.org/drawingml/2006/main" noGrp="1"/>
          </p:cNvSpPr>
          <p:nvPr/>
        </p:nvSpPr>
        <p:spPr>
          <a:xfrm xmlns:a="http://schemas.openxmlformats.org/drawingml/2006/main">
            <a:off x="666750" y="723900"/>
            <a:ext cx="552450" cy="552450"/>
          </a:xfrm>
          <a:prstGeom xmlns:a="http://schemas.openxmlformats.org/drawingml/2006/main" prst="roundRect">
            <a:avLst>
              <a:gd name="adj" fmla="val 13793"/>
            </a:avLst>
          </a:prstGeom>
          <a:solidFill xmlns:a="http://schemas.openxmlformats.org/drawingml/2006/main">
            <a:srgbClr val="F53D9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F83B848-B92D-4BB9-A124-77CF98B32DB5}"/>
              </a:ext>
            </a:extLst>
          </p:cNvPr>
          <p:cNvSpPr>
            <a:spLocks xmlns:a="http://schemas.openxmlformats.org/drawingml/2006/main" noGrp="1"/>
          </p:cNvSpPr>
          <p:nvPr/>
        </p:nvSpPr>
        <p:spPr>
          <a:xfrm xmlns:a="http://schemas.openxmlformats.org/drawingml/2006/main">
            <a:off x="666750" y="828675"/>
            <a:ext cx="552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950" b="1">
                <a:solidFill>
                  <a:srgbClr val="FFFFFF"/>
                </a:solidFill>
                <a:latin typeface="Segoe UI"/>
                <a:ea typeface="Segoe UI"/>
                <a:cs typeface="Segoe UI"/>
              </a:defRPr>
            </a:pPr>
            <a:r>
              <a:rPr sz="1950" b="1">
                <a:solidFill>
                  <a:srgbClr val="FFFFFF"/>
                </a:solidFill>
                <a:latin typeface="Segoe UI"/>
                <a:ea typeface="Segoe UI"/>
                <a:cs typeface="Segoe UI"/>
              </a:rPr>
              <a:t>FB</a:t>
            </a:r>
          </a:p>
        </p:txBody>
      </p:sp>
      <p:sp>
        <p:nvSpPr>
          <p:cNvPr id="5" name="">
            <a:extLst xmlns:a="http://schemas.openxmlformats.org/drawingml/2006/main">
              <a:ext uri="{FF2B5EF4-FFF2-40B4-BE49-F238E27FC236}">
                <a16:creationId xmlns:a16="http://schemas.microsoft.com/office/drawing/2014/main" id="{230DAA06-035F-4C83-A033-D8E540C7C334}"/>
              </a:ext>
            </a:extLst>
          </p:cNvPr>
          <p:cNvSpPr>
            <a:spLocks xmlns:a="http://schemas.openxmlformats.org/drawingml/2006/main" noGrp="1"/>
          </p:cNvSpPr>
          <p:nvPr/>
        </p:nvSpPr>
        <p:spPr>
          <a:xfrm xmlns:a="http://schemas.openxmlformats.org/drawingml/2006/main">
            <a:off x="1400175" y="781050"/>
            <a:ext cx="876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FFFFFF"/>
                </a:solidFill>
                <a:latin typeface="Segoe UI"/>
                <a:ea typeface="Segoe UI"/>
                <a:cs typeface="Segoe UI"/>
              </a:defRPr>
            </a:pPr>
            <a:r>
              <a:rPr sz="2550" b="1">
                <a:solidFill>
                  <a:srgbClr val="FFFFFF"/>
                </a:solidFill>
                <a:latin typeface="Segoe UI"/>
                <a:ea typeface="Segoe UI"/>
                <a:cs typeface="Segoe UI"/>
              </a:rPr>
              <a:t>FOX</a:t>
            </a:r>
          </a:p>
        </p:txBody>
      </p:sp>
      <p:sp>
        <p:nvSpPr>
          <p:cNvPr id="6" name="">
            <a:extLst xmlns:a="http://schemas.openxmlformats.org/drawingml/2006/main">
              <a:ext uri="{FF2B5EF4-FFF2-40B4-BE49-F238E27FC236}">
                <a16:creationId xmlns:a16="http://schemas.microsoft.com/office/drawing/2014/main" id="{042910F0-B2DF-45BC-BFBD-C439D9C6911F}"/>
              </a:ext>
            </a:extLst>
          </p:cNvPr>
          <p:cNvSpPr>
            <a:spLocks xmlns:a="http://schemas.openxmlformats.org/drawingml/2006/main" noGrp="1"/>
          </p:cNvSpPr>
          <p:nvPr/>
        </p:nvSpPr>
        <p:spPr>
          <a:xfrm xmlns:a="http://schemas.openxmlformats.org/drawingml/2006/main">
            <a:off x="2247900" y="781050"/>
            <a:ext cx="85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F53D91"/>
                </a:solidFill>
                <a:latin typeface="Segoe UI"/>
                <a:ea typeface="Segoe UI"/>
                <a:cs typeface="Segoe UI"/>
              </a:defRPr>
            </a:pPr>
            <a:r>
              <a:rPr sz="2550" b="1">
                <a:solidFill>
                  <a:srgbClr val="F53D91"/>
                </a:solidFill>
                <a:latin typeface="Segoe UI"/>
                <a:ea typeface="Segoe UI"/>
                <a:cs typeface="Segoe UI"/>
              </a:rPr>
              <a:t>Bus</a:t>
            </a:r>
          </a:p>
        </p:txBody>
      </p:sp>
      <p:sp>
        <p:nvSpPr>
          <p:cNvPr id="7" name="">
            <a:extLst xmlns:a="http://schemas.openxmlformats.org/drawingml/2006/main">
              <a:ext uri="{FF2B5EF4-FFF2-40B4-BE49-F238E27FC236}">
                <a16:creationId xmlns:a16="http://schemas.microsoft.com/office/drawing/2014/main" id="{32A812D1-27DC-46B2-B138-CBD9494CD146}"/>
              </a:ext>
            </a:extLst>
          </p:cNvPr>
          <p:cNvSpPr>
            <a:spLocks xmlns:a="http://schemas.openxmlformats.org/drawingml/2006/main" noGrp="1"/>
          </p:cNvSpPr>
          <p:nvPr/>
        </p:nvSpPr>
        <p:spPr>
          <a:xfrm xmlns:a="http://schemas.openxmlformats.org/drawingml/2006/main">
            <a:off x="666750" y="1905000"/>
            <a:ext cx="6000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350" b="1">
                <a:solidFill>
                  <a:srgbClr val="FFFFFF"/>
                </a:solidFill>
                <a:latin typeface="Segoe UI"/>
                <a:ea typeface="Segoe UI"/>
                <a:cs typeface="Segoe UI"/>
              </a:defRPr>
            </a:pPr>
            <a:r>
              <a:rPr sz="4350" b="1">
                <a:solidFill>
                  <a:srgbClr val="FFFFFF"/>
                </a:solidFill>
                <a:latin typeface="Segoe UI"/>
                <a:ea typeface="Segoe UI"/>
                <a:cs typeface="Segoe UI"/>
              </a:rPr>
              <a:t>Trazabilidad digital del pasaje interprovincial</a:t>
            </a:r>
          </a:p>
        </p:txBody>
      </p:sp>
      <p:sp>
        <p:nvSpPr>
          <p:cNvPr id="8" name="">
            <a:extLst xmlns:a="http://schemas.openxmlformats.org/drawingml/2006/main">
              <a:ext uri="{FF2B5EF4-FFF2-40B4-BE49-F238E27FC236}">
                <a16:creationId xmlns:a16="http://schemas.microsoft.com/office/drawing/2014/main" id="{C59CF32A-646B-4FB9-8896-AA031914B28D}"/>
              </a:ext>
            </a:extLst>
          </p:cNvPr>
          <p:cNvSpPr>
            <a:spLocks xmlns:a="http://schemas.openxmlformats.org/drawingml/2006/main" noGrp="1"/>
          </p:cNvSpPr>
          <p:nvPr/>
        </p:nvSpPr>
        <p:spPr>
          <a:xfrm xmlns:a="http://schemas.openxmlformats.org/drawingml/2006/main">
            <a:off x="685800" y="425767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0">
                <a:solidFill>
                  <a:srgbClr val="F8D5E7"/>
                </a:solidFill>
                <a:latin typeface="Segoe UI"/>
                <a:ea typeface="Segoe UI"/>
                <a:cs typeface="Segoe UI"/>
              </a:defRPr>
            </a:pPr>
            <a:r>
              <a:rPr sz="2025" b="0">
                <a:solidFill>
                  <a:srgbClr val="F8D5E7"/>
                </a:solidFill>
                <a:latin typeface="Segoe UI"/>
                <a:ea typeface="Segoe UI"/>
                <a:cs typeface="Segoe UI"/>
              </a:rPr>
              <a:t>Avance 1 de la idea de innovación</a:t>
            </a:r>
          </a:p>
        </p:txBody>
      </p:sp>
      <p:sp>
        <p:nvSpPr>
          <p:cNvPr id="9" name="">
            <a:extLst xmlns:a="http://schemas.openxmlformats.org/drawingml/2006/main">
              <a:ext uri="{FF2B5EF4-FFF2-40B4-BE49-F238E27FC236}">
                <a16:creationId xmlns:a16="http://schemas.microsoft.com/office/drawing/2014/main" id="{2C97B66A-F72A-4A71-940D-71E0A989515C}"/>
              </a:ext>
            </a:extLst>
          </p:cNvPr>
          <p:cNvSpPr>
            <a:spLocks xmlns:a="http://schemas.openxmlformats.org/drawingml/2006/main" noGrp="1"/>
          </p:cNvSpPr>
          <p:nvPr/>
        </p:nvSpPr>
        <p:spPr>
          <a:xfrm xmlns:a="http://schemas.openxmlformats.org/drawingml/2006/main">
            <a:off x="666750" y="4829175"/>
            <a:ext cx="2514600" cy="400050"/>
          </a:xfrm>
          <a:prstGeom xmlns:a="http://schemas.openxmlformats.org/drawingml/2006/main" prst="roundRect">
            <a:avLst>
              <a:gd name="adj" fmla="val 19048"/>
            </a:avLst>
          </a:prstGeom>
          <a:solidFill xmlns:a="http://schemas.openxmlformats.org/drawingml/2006/main">
            <a:srgbClr val="F53D91"/>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8E6569A-44AF-453A-AB6D-C7CA1F2792D3}"/>
              </a:ext>
            </a:extLst>
          </p:cNvPr>
          <p:cNvSpPr>
            <a:spLocks xmlns:a="http://schemas.openxmlformats.org/drawingml/2006/main" noGrp="1"/>
          </p:cNvSpPr>
          <p:nvPr/>
        </p:nvSpPr>
        <p:spPr>
          <a:xfrm xmlns:a="http://schemas.openxmlformats.org/drawingml/2006/main">
            <a:off x="666750" y="4933950"/>
            <a:ext cx="2514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Segoe UI"/>
                <a:ea typeface="Segoe UI"/>
                <a:cs typeface="Segoe UI"/>
              </a:defRPr>
            </a:pPr>
            <a:r>
              <a:rPr sz="1275" b="1">
                <a:solidFill>
                  <a:srgbClr val="FFFFFF"/>
                </a:solidFill>
                <a:latin typeface="Segoe UI"/>
                <a:ea typeface="Segoe UI"/>
                <a:cs typeface="Segoe UI"/>
              </a:rPr>
              <a:t>PILOTO LIMA - TRUJILLO</a:t>
            </a:r>
          </a:p>
        </p:txBody>
      </p:sp>
      <p:sp>
        <p:nvSpPr>
          <p:cNvPr id="11" name="">
            <a:extLst xmlns:a="http://schemas.openxmlformats.org/drawingml/2006/main">
              <a:ext uri="{FF2B5EF4-FFF2-40B4-BE49-F238E27FC236}">
                <a16:creationId xmlns:a16="http://schemas.microsoft.com/office/drawing/2014/main" id="{517C28DF-B265-40C2-813A-F684F5717F35}"/>
              </a:ext>
            </a:extLst>
          </p:cNvPr>
          <p:cNvSpPr>
            <a:spLocks xmlns:a="http://schemas.openxmlformats.org/drawingml/2006/main" noGrp="1"/>
          </p:cNvSpPr>
          <p:nvPr/>
        </p:nvSpPr>
        <p:spPr>
          <a:xfrm xmlns:a="http://schemas.openxmlformats.org/drawingml/2006/main">
            <a:off x="666750" y="58102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D9DDE9"/>
                </a:solidFill>
                <a:latin typeface="Segoe UI"/>
                <a:ea typeface="Segoe UI"/>
                <a:cs typeface="Segoe UI"/>
              </a:defRPr>
            </a:pPr>
            <a:r>
              <a:rPr sz="1275" b="0">
                <a:solidFill>
                  <a:srgbClr val="D9DDE9"/>
                </a:solidFill>
                <a:latin typeface="Segoe UI"/>
                <a:ea typeface="Segoe UI"/>
                <a:cs typeface="Segoe UI"/>
              </a:rPr>
              <a:t>Innovación y Transformación Digital - Sección 41555</a:t>
            </a:r>
          </a:p>
        </p:txBody>
      </p:sp>
      <p:sp>
        <p:nvSpPr>
          <p:cNvPr id="12" name="">
            <a:extLst xmlns:a="http://schemas.openxmlformats.org/drawingml/2006/main">
              <a:ext uri="{FF2B5EF4-FFF2-40B4-BE49-F238E27FC236}">
                <a16:creationId xmlns:a16="http://schemas.microsoft.com/office/drawing/2014/main" id="{1A8142BE-D3C5-4746-A3CD-6C1A5CF09A68}"/>
              </a:ext>
            </a:extLst>
          </p:cNvPr>
          <p:cNvSpPr>
            <a:spLocks xmlns:a="http://schemas.openxmlformats.org/drawingml/2006/main" noGrp="1"/>
          </p:cNvSpPr>
          <p:nvPr/>
        </p:nvSpPr>
        <p:spPr>
          <a:xfrm xmlns:a="http://schemas.openxmlformats.org/drawingml/2006/main">
            <a:off x="666750" y="61341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AEB4C9"/>
                </a:solidFill>
                <a:latin typeface="Segoe UI"/>
                <a:ea typeface="Segoe UI"/>
                <a:cs typeface="Segoe UI"/>
              </a:defRPr>
            </a:pPr>
            <a:r>
              <a:rPr sz="1200" b="0">
                <a:solidFill>
                  <a:srgbClr val="AEB4C9"/>
                </a:solidFill>
                <a:latin typeface="Segoe UI"/>
                <a:ea typeface="Segoe UI"/>
                <a:cs typeface="Segoe UI"/>
              </a:rPr>
              <a:t>Grupo 6 - Septiembre de 2026</a:t>
            </a:r>
          </a:p>
        </p:txBody>
      </p:sp>
    </p:spTree>
    <p:extLst>
      <p:ext uri="{BB962C8B-B14F-4D97-AF65-F5344CB8AC3E}">
        <p14:creationId xmlns:p14="http://schemas.microsoft.com/office/powerpoint/2010/main" val="125954915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BD8D3E28-A8C3-4DBB-B295-9B8D4767BB63}"/>
              </a:ext>
            </a:extLst>
          </p:cNvPr>
          <p:cNvSpPr>
            <a:spLocks xmlns:a="http://schemas.openxmlformats.org/drawingml/2006/main" noGrp="1"/>
          </p:cNvSpPr>
          <p:nvPr/>
        </p:nvSpPr>
        <p:spPr>
          <a:xfrm xmlns:a="http://schemas.openxmlformats.org/drawingml/2006/main">
            <a:off x="666750" y="400050"/>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D92375"/>
                </a:solidFill>
                <a:latin typeface="Segoe UI"/>
                <a:ea typeface="Segoe UI"/>
                <a:cs typeface="Segoe UI"/>
              </a:defRPr>
            </a:pPr>
            <a:r>
              <a:rPr sz="1350" b="1">
                <a:solidFill>
                  <a:srgbClr val="D92375"/>
                </a:solidFill>
                <a:latin typeface="Segoe UI"/>
                <a:ea typeface="Segoe UI"/>
                <a:cs typeface="Segoe UI"/>
              </a:rPr>
              <a:t>CLARIDAD Y DEFINICIÓN</a:t>
            </a:r>
          </a:p>
        </p:txBody>
      </p:sp>
      <p:sp>
        <p:nvSpPr>
          <p:cNvPr id="2" name="">
            <a:extLst xmlns:a="http://schemas.openxmlformats.org/drawingml/2006/main">
              <a:ext uri="{FF2B5EF4-FFF2-40B4-BE49-F238E27FC236}">
                <a16:creationId xmlns:a16="http://schemas.microsoft.com/office/drawing/2014/main" id="{AF09FA05-E76C-4343-B4F9-6F9FC81765F7}"/>
              </a:ext>
            </a:extLst>
          </p:cNvPr>
          <p:cNvSpPr>
            <a:spLocks xmlns:a="http://schemas.openxmlformats.org/drawingml/2006/main" noGrp="1"/>
          </p:cNvSpPr>
          <p:nvPr/>
        </p:nvSpPr>
        <p:spPr>
          <a:xfrm xmlns:a="http://schemas.openxmlformats.org/drawingml/2006/main">
            <a:off x="666750" y="74295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600" b="1">
                <a:solidFill>
                  <a:srgbClr val="22283A"/>
                </a:solidFill>
                <a:latin typeface="Segoe UI"/>
                <a:ea typeface="Segoe UI"/>
                <a:cs typeface="Segoe UI"/>
              </a:defRPr>
            </a:pPr>
            <a:r>
              <a:rPr sz="3600" b="1">
                <a:solidFill>
                  <a:srgbClr val="22283A"/>
                </a:solidFill>
                <a:latin typeface="Segoe UI"/>
                <a:ea typeface="Segoe UI"/>
                <a:cs typeface="Segoe UI"/>
              </a:rPr>
              <a:t>Problema en la ruta piloto</a:t>
            </a:r>
          </a:p>
        </p:txBody>
      </p:sp>
      <p:sp>
        <p:nvSpPr>
          <p:cNvPr id="3" name="">
            <a:extLst xmlns:a="http://schemas.openxmlformats.org/drawingml/2006/main">
              <a:ext uri="{FF2B5EF4-FFF2-40B4-BE49-F238E27FC236}">
                <a16:creationId xmlns:a16="http://schemas.microsoft.com/office/drawing/2014/main" id="{BAAE2D27-EB5E-4931-92AA-43C735619782}"/>
              </a:ext>
            </a:extLst>
          </p:cNvPr>
          <p:cNvSpPr>
            <a:spLocks xmlns:a="http://schemas.openxmlformats.org/drawingml/2006/main" noGrp="1"/>
          </p:cNvSpPr>
          <p:nvPr/>
        </p:nvSpPr>
        <p:spPr>
          <a:xfrm xmlns:a="http://schemas.openxmlformats.org/drawingml/2006/main">
            <a:off x="666750" y="1828800"/>
            <a:ext cx="333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5400" b="1">
                <a:solidFill>
                  <a:srgbClr val="D92375"/>
                </a:solidFill>
                <a:latin typeface="Segoe UI"/>
                <a:ea typeface="Segoe UI"/>
                <a:cs typeface="Segoe UI"/>
              </a:defRPr>
            </a:pPr>
            <a:r>
              <a:rPr sz="5400" b="1">
                <a:solidFill>
                  <a:srgbClr val="D92375"/>
                </a:solidFill>
                <a:latin typeface="Segoe UI"/>
                <a:ea typeface="Segoe UI"/>
                <a:cs typeface="Segoe UI"/>
              </a:rPr>
              <a:t>96,4 M</a:t>
            </a:r>
          </a:p>
        </p:txBody>
      </p:sp>
      <p:sp>
        <p:nvSpPr>
          <p:cNvPr id="4" name="">
            <a:extLst xmlns:a="http://schemas.openxmlformats.org/drawingml/2006/main">
              <a:ext uri="{FF2B5EF4-FFF2-40B4-BE49-F238E27FC236}">
                <a16:creationId xmlns:a16="http://schemas.microsoft.com/office/drawing/2014/main" id="{FC840152-1D29-431E-8414-C2430BF33B62}"/>
              </a:ext>
            </a:extLst>
          </p:cNvPr>
          <p:cNvSpPr>
            <a:spLocks xmlns:a="http://schemas.openxmlformats.org/drawingml/2006/main" noGrp="1"/>
          </p:cNvSpPr>
          <p:nvPr/>
        </p:nvSpPr>
        <p:spPr>
          <a:xfrm xmlns:a="http://schemas.openxmlformats.org/drawingml/2006/main">
            <a:off x="685800" y="2667000"/>
            <a:ext cx="342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667085"/>
                </a:solidFill>
                <a:latin typeface="Segoe UI"/>
                <a:ea typeface="Segoe UI"/>
                <a:cs typeface="Segoe UI"/>
              </a:defRPr>
            </a:pPr>
            <a:r>
              <a:rPr sz="1725" b="0">
                <a:solidFill>
                  <a:srgbClr val="667085"/>
                </a:solidFill>
                <a:latin typeface="Segoe UI"/>
                <a:ea typeface="Segoe UI"/>
                <a:cs typeface="Segoe UI"/>
              </a:rPr>
              <a:t>pasajeros movilizados por el transporte terrestre nacional en 2024</a:t>
            </a:r>
          </a:p>
        </p:txBody>
      </p:sp>
      <p:sp>
        <p:nvSpPr>
          <p:cNvPr id="5" name="">
            <a:extLst xmlns:a="http://schemas.openxmlformats.org/drawingml/2006/main">
              <a:ext uri="{FF2B5EF4-FFF2-40B4-BE49-F238E27FC236}">
                <a16:creationId xmlns:a16="http://schemas.microsoft.com/office/drawing/2014/main" id="{22B0BC9F-CF72-42C7-99C8-3AA5BFC0FE7B}"/>
              </a:ext>
            </a:extLst>
          </p:cNvPr>
          <p:cNvSpPr>
            <a:spLocks xmlns:a="http://schemas.openxmlformats.org/drawingml/2006/main" noGrp="1"/>
          </p:cNvSpPr>
          <p:nvPr/>
        </p:nvSpPr>
        <p:spPr>
          <a:xfrm xmlns:a="http://schemas.openxmlformats.org/drawingml/2006/main">
            <a:off x="685800" y="3543300"/>
            <a:ext cx="3524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22283A"/>
                </a:solidFill>
                <a:latin typeface="Segoe UI"/>
                <a:ea typeface="Segoe UI"/>
                <a:cs typeface="Segoe UI"/>
              </a:defRPr>
            </a:pPr>
            <a:r>
              <a:rPr sz="1500" b="0">
                <a:solidFill>
                  <a:srgbClr val="22283A"/>
                </a:solidFill>
                <a:latin typeface="Segoe UI"/>
                <a:ea typeface="Segoe UI"/>
                <a:cs typeface="Segoe UI"/>
              </a:rPr>
              <a:t>La cifra muestra la escala del sector. La fragmentación del proceso todavía debe medirse en Lima - Trujillo.</a:t>
            </a:r>
          </a:p>
        </p:txBody>
      </p:sp>
      <p:sp>
        <p:nvSpPr>
          <p:cNvPr id="6" name="">
            <a:extLst xmlns:a="http://schemas.openxmlformats.org/drawingml/2006/main">
              <a:ext uri="{FF2B5EF4-FFF2-40B4-BE49-F238E27FC236}">
                <a16:creationId xmlns:a16="http://schemas.microsoft.com/office/drawing/2014/main" id="{D3C72F49-B357-4875-90C1-2CE792C9C9E8}"/>
              </a:ext>
            </a:extLst>
          </p:cNvPr>
          <p:cNvSpPr>
            <a:spLocks xmlns:a="http://schemas.openxmlformats.org/drawingml/2006/main" noGrp="1"/>
          </p:cNvSpPr>
          <p:nvPr/>
        </p:nvSpPr>
        <p:spPr>
          <a:xfrm xmlns:a="http://schemas.openxmlformats.org/drawingml/2006/main">
            <a:off x="685800" y="4514850"/>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Segoe UI"/>
                <a:ea typeface="Segoe UI"/>
                <a:cs typeface="Segoe UI"/>
              </a:defRPr>
            </a:pPr>
            <a:r>
              <a:rPr sz="1125" b="0">
                <a:solidFill>
                  <a:srgbClr val="667085"/>
                </a:solidFill>
                <a:latin typeface="Segoe UI"/>
                <a:ea typeface="Segoe UI"/>
                <a:cs typeface="Segoe UI"/>
              </a:rPr>
              <a:t>Fuente: SUTRAN y MTC</a:t>
            </a:r>
          </a:p>
        </p:txBody>
      </p:sp>
      <p:sp>
        <p:nvSpPr>
          <p:cNvPr id="7" name="">
            <a:extLst xmlns:a="http://schemas.openxmlformats.org/drawingml/2006/main">
              <a:ext uri="{FF2B5EF4-FFF2-40B4-BE49-F238E27FC236}">
                <a16:creationId xmlns:a16="http://schemas.microsoft.com/office/drawing/2014/main" id="{00407D9A-2230-4E8E-8069-C9ABB40DC350}"/>
              </a:ext>
            </a:extLst>
          </p:cNvPr>
          <p:cNvSpPr>
            <a:spLocks xmlns:a="http://schemas.openxmlformats.org/drawingml/2006/main" noGrp="1"/>
          </p:cNvSpPr>
          <p:nvPr/>
        </p:nvSpPr>
        <p:spPr>
          <a:xfrm xmlns:a="http://schemas.openxmlformats.org/drawingml/2006/main">
            <a:off x="4762500" y="1809750"/>
            <a:ext cx="552450" cy="552450"/>
          </a:xfrm>
          <a:prstGeom xmlns:a="http://schemas.openxmlformats.org/drawingml/2006/main" prst="roundRect">
            <a:avLst>
              <a:gd name="adj" fmla="val 13793"/>
            </a:avLst>
          </a:prstGeom>
          <a:solidFill xmlns:a="http://schemas.openxmlformats.org/drawingml/2006/main">
            <a:srgbClr val="F53D91"/>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9DDBFA5-A044-49A5-8520-FA4978DA3E1F}"/>
              </a:ext>
            </a:extLst>
          </p:cNvPr>
          <p:cNvSpPr>
            <a:spLocks xmlns:a="http://schemas.openxmlformats.org/drawingml/2006/main" noGrp="1"/>
          </p:cNvSpPr>
          <p:nvPr/>
        </p:nvSpPr>
        <p:spPr>
          <a:xfrm xmlns:a="http://schemas.openxmlformats.org/drawingml/2006/main">
            <a:off x="4762500" y="1924050"/>
            <a:ext cx="55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00" b="1">
                <a:solidFill>
                  <a:srgbClr val="FFFFFF"/>
                </a:solidFill>
                <a:latin typeface="Segoe UI"/>
                <a:ea typeface="Segoe UI"/>
                <a:cs typeface="Segoe UI"/>
              </a:defRPr>
            </a:pPr>
            <a:r>
              <a:rPr sz="1800" b="1">
                <a:solidFill>
                  <a:srgbClr val="FFFFFF"/>
                </a:solidFill>
                <a:latin typeface="Segoe UI"/>
                <a:ea typeface="Segoe UI"/>
                <a:cs typeface="Segoe UI"/>
              </a:rPr>
              <a:t>1</a:t>
            </a:r>
          </a:p>
        </p:txBody>
      </p:sp>
      <p:sp>
        <p:nvSpPr>
          <p:cNvPr id="9" name="">
            <a:extLst xmlns:a="http://schemas.openxmlformats.org/drawingml/2006/main">
              <a:ext uri="{FF2B5EF4-FFF2-40B4-BE49-F238E27FC236}">
                <a16:creationId xmlns:a16="http://schemas.microsoft.com/office/drawing/2014/main" id="{AAC89887-2577-457F-86A6-B3B45EAD8550}"/>
              </a:ext>
            </a:extLst>
          </p:cNvPr>
          <p:cNvSpPr>
            <a:spLocks xmlns:a="http://schemas.openxmlformats.org/drawingml/2006/main" noGrp="1"/>
          </p:cNvSpPr>
          <p:nvPr/>
        </p:nvSpPr>
        <p:spPr>
          <a:xfrm xmlns:a="http://schemas.openxmlformats.org/drawingml/2006/main">
            <a:off x="5572125" y="1790700"/>
            <a:ext cx="180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22283A"/>
                </a:solidFill>
                <a:latin typeface="Segoe UI"/>
                <a:ea typeface="Segoe UI"/>
                <a:cs typeface="Segoe UI"/>
              </a:defRPr>
            </a:pPr>
            <a:r>
              <a:rPr sz="2025" b="1">
                <a:solidFill>
                  <a:srgbClr val="22283A"/>
                </a:solidFill>
                <a:latin typeface="Segoe UI"/>
                <a:ea typeface="Segoe UI"/>
                <a:cs typeface="Segoe UI"/>
              </a:rPr>
              <a:t>Compra</a:t>
            </a:r>
          </a:p>
        </p:txBody>
      </p:sp>
      <p:sp>
        <p:nvSpPr>
          <p:cNvPr id="10" name="">
            <a:extLst xmlns:a="http://schemas.openxmlformats.org/drawingml/2006/main">
              <a:ext uri="{FF2B5EF4-FFF2-40B4-BE49-F238E27FC236}">
                <a16:creationId xmlns:a16="http://schemas.microsoft.com/office/drawing/2014/main" id="{D1A72145-D217-4B55-923C-6F7CD816BA7C}"/>
              </a:ext>
            </a:extLst>
          </p:cNvPr>
          <p:cNvSpPr>
            <a:spLocks xmlns:a="http://schemas.openxmlformats.org/drawingml/2006/main" noGrp="1"/>
          </p:cNvSpPr>
          <p:nvPr/>
        </p:nvSpPr>
        <p:spPr>
          <a:xfrm xmlns:a="http://schemas.openxmlformats.org/drawingml/2006/main">
            <a:off x="7429500" y="1790700"/>
            <a:ext cx="3905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a:solidFill>
                  <a:srgbClr val="667085"/>
                </a:solidFill>
                <a:latin typeface="Segoe UI"/>
                <a:ea typeface="Segoe UI"/>
                <a:cs typeface="Segoe UI"/>
              </a:defRPr>
            </a:pPr>
            <a:r>
              <a:rPr sz="1650" b="0">
                <a:solidFill>
                  <a:srgbClr val="667085"/>
                </a:solidFill>
                <a:latin typeface="Segoe UI"/>
                <a:ea typeface="Segoe UI"/>
                <a:cs typeface="Segoe UI"/>
              </a:rPr>
              <a:t>Búsqueda, asiento y comprobante pueden quedar en canales distintos.</a:t>
            </a:r>
          </a:p>
        </p:txBody>
      </p:sp>
      <p:sp>
        <p:nvSpPr>
          <p:cNvPr id="11" name="">
            <a:extLst xmlns:a="http://schemas.openxmlformats.org/drawingml/2006/main">
              <a:ext uri="{FF2B5EF4-FFF2-40B4-BE49-F238E27FC236}">
                <a16:creationId xmlns:a16="http://schemas.microsoft.com/office/drawing/2014/main" id="{0968B23E-6EB6-460F-8DE6-2F1E20C332CF}"/>
              </a:ext>
            </a:extLst>
          </p:cNvPr>
          <p:cNvSpPr>
            <a:spLocks xmlns:a="http://schemas.openxmlformats.org/drawingml/2006/main" noGrp="1"/>
          </p:cNvSpPr>
          <p:nvPr/>
        </p:nvSpPr>
        <p:spPr>
          <a:xfrm xmlns:a="http://schemas.openxmlformats.org/drawingml/2006/main">
            <a:off x="4762500" y="2914650"/>
            <a:ext cx="552450" cy="552450"/>
          </a:xfrm>
          <a:prstGeom xmlns:a="http://schemas.openxmlformats.org/drawingml/2006/main" prst="roundRect">
            <a:avLst>
              <a:gd name="adj" fmla="val 13793"/>
            </a:avLst>
          </a:prstGeom>
          <a:solidFill xmlns:a="http://schemas.openxmlformats.org/drawingml/2006/main">
            <a:srgbClr val="F53D91"/>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9EED6F8-304B-487D-9586-3E58E7478095}"/>
              </a:ext>
            </a:extLst>
          </p:cNvPr>
          <p:cNvSpPr>
            <a:spLocks xmlns:a="http://schemas.openxmlformats.org/drawingml/2006/main" noGrp="1"/>
          </p:cNvSpPr>
          <p:nvPr/>
        </p:nvSpPr>
        <p:spPr>
          <a:xfrm xmlns:a="http://schemas.openxmlformats.org/drawingml/2006/main">
            <a:off x="4762500" y="3028950"/>
            <a:ext cx="55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00" b="1">
                <a:solidFill>
                  <a:srgbClr val="FFFFFF"/>
                </a:solidFill>
                <a:latin typeface="Segoe UI"/>
                <a:ea typeface="Segoe UI"/>
                <a:cs typeface="Segoe UI"/>
              </a:defRPr>
            </a:pPr>
            <a:r>
              <a:rPr sz="1800" b="1">
                <a:solidFill>
                  <a:srgbClr val="FFFFFF"/>
                </a:solidFill>
                <a:latin typeface="Segoe UI"/>
                <a:ea typeface="Segoe UI"/>
                <a:cs typeface="Segoe UI"/>
              </a:rPr>
              <a:t>2</a:t>
            </a:r>
          </a:p>
        </p:txBody>
      </p:sp>
      <p:sp>
        <p:nvSpPr>
          <p:cNvPr id="13" name="">
            <a:extLst xmlns:a="http://schemas.openxmlformats.org/drawingml/2006/main">
              <a:ext uri="{FF2B5EF4-FFF2-40B4-BE49-F238E27FC236}">
                <a16:creationId xmlns:a16="http://schemas.microsoft.com/office/drawing/2014/main" id="{0D96C753-A43E-4184-AAB0-CD1CE4E18061}"/>
              </a:ext>
            </a:extLst>
          </p:cNvPr>
          <p:cNvSpPr>
            <a:spLocks xmlns:a="http://schemas.openxmlformats.org/drawingml/2006/main" noGrp="1"/>
          </p:cNvSpPr>
          <p:nvPr/>
        </p:nvSpPr>
        <p:spPr>
          <a:xfrm xmlns:a="http://schemas.openxmlformats.org/drawingml/2006/main">
            <a:off x="5572125" y="2895600"/>
            <a:ext cx="180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22283A"/>
                </a:solidFill>
                <a:latin typeface="Segoe UI"/>
                <a:ea typeface="Segoe UI"/>
                <a:cs typeface="Segoe UI"/>
              </a:defRPr>
            </a:pPr>
            <a:r>
              <a:rPr sz="2025" b="1">
                <a:solidFill>
                  <a:srgbClr val="22283A"/>
                </a:solidFill>
                <a:latin typeface="Segoe UI"/>
                <a:ea typeface="Segoe UI"/>
                <a:cs typeface="Segoe UI"/>
              </a:rPr>
              <a:t>Abordaje</a:t>
            </a:r>
          </a:p>
        </p:txBody>
      </p:sp>
      <p:sp>
        <p:nvSpPr>
          <p:cNvPr id="14" name="">
            <a:extLst xmlns:a="http://schemas.openxmlformats.org/drawingml/2006/main">
              <a:ext uri="{FF2B5EF4-FFF2-40B4-BE49-F238E27FC236}">
                <a16:creationId xmlns:a16="http://schemas.microsoft.com/office/drawing/2014/main" id="{6E5D27F1-D16A-4FFB-97EA-0B5129A3E242}"/>
              </a:ext>
            </a:extLst>
          </p:cNvPr>
          <p:cNvSpPr>
            <a:spLocks xmlns:a="http://schemas.openxmlformats.org/drawingml/2006/main" noGrp="1"/>
          </p:cNvSpPr>
          <p:nvPr/>
        </p:nvSpPr>
        <p:spPr>
          <a:xfrm xmlns:a="http://schemas.openxmlformats.org/drawingml/2006/main">
            <a:off x="7429500" y="2895600"/>
            <a:ext cx="3905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a:solidFill>
                  <a:srgbClr val="667085"/>
                </a:solidFill>
                <a:latin typeface="Segoe UI"/>
                <a:ea typeface="Segoe UI"/>
                <a:cs typeface="Segoe UI"/>
              </a:defRPr>
            </a:pPr>
            <a:r>
              <a:rPr sz="1650" b="0">
                <a:solidFill>
                  <a:srgbClr val="667085"/>
                </a:solidFill>
                <a:latin typeface="Segoe UI"/>
                <a:ea typeface="Segoe UI"/>
                <a:cs typeface="Segoe UI"/>
              </a:rPr>
              <a:t>El pasajero necesita confirmar horario, asiento y validez del pasaje.</a:t>
            </a:r>
          </a:p>
        </p:txBody>
      </p:sp>
      <p:sp>
        <p:nvSpPr>
          <p:cNvPr id="15" name="">
            <a:extLst xmlns:a="http://schemas.openxmlformats.org/drawingml/2006/main">
              <a:ext uri="{FF2B5EF4-FFF2-40B4-BE49-F238E27FC236}">
                <a16:creationId xmlns:a16="http://schemas.microsoft.com/office/drawing/2014/main" id="{AB01D0BC-3248-4D79-913D-7D68E151A2A6}"/>
              </a:ext>
            </a:extLst>
          </p:cNvPr>
          <p:cNvSpPr>
            <a:spLocks xmlns:a="http://schemas.openxmlformats.org/drawingml/2006/main" noGrp="1"/>
          </p:cNvSpPr>
          <p:nvPr/>
        </p:nvSpPr>
        <p:spPr>
          <a:xfrm xmlns:a="http://schemas.openxmlformats.org/drawingml/2006/main">
            <a:off x="4762500" y="4019550"/>
            <a:ext cx="552450" cy="552450"/>
          </a:xfrm>
          <a:prstGeom xmlns:a="http://schemas.openxmlformats.org/drawingml/2006/main" prst="roundRect">
            <a:avLst>
              <a:gd name="adj" fmla="val 13793"/>
            </a:avLst>
          </a:prstGeom>
          <a:solidFill xmlns:a="http://schemas.openxmlformats.org/drawingml/2006/main">
            <a:srgbClr val="F53D91"/>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40956F69-E241-4560-8C54-7377B9604720}"/>
              </a:ext>
            </a:extLst>
          </p:cNvPr>
          <p:cNvSpPr>
            <a:spLocks xmlns:a="http://schemas.openxmlformats.org/drawingml/2006/main" noGrp="1"/>
          </p:cNvSpPr>
          <p:nvPr/>
        </p:nvSpPr>
        <p:spPr>
          <a:xfrm xmlns:a="http://schemas.openxmlformats.org/drawingml/2006/main">
            <a:off x="4762500" y="4133850"/>
            <a:ext cx="55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00" b="1">
                <a:solidFill>
                  <a:srgbClr val="FFFFFF"/>
                </a:solidFill>
                <a:latin typeface="Segoe UI"/>
                <a:ea typeface="Segoe UI"/>
                <a:cs typeface="Segoe UI"/>
              </a:defRPr>
            </a:pPr>
            <a:r>
              <a:rPr sz="1800" b="1">
                <a:solidFill>
                  <a:srgbClr val="FFFFFF"/>
                </a:solidFill>
                <a:latin typeface="Segoe UI"/>
                <a:ea typeface="Segoe UI"/>
                <a:cs typeface="Segoe UI"/>
              </a:rPr>
              <a:t>3</a:t>
            </a:r>
          </a:p>
        </p:txBody>
      </p:sp>
      <p:sp>
        <p:nvSpPr>
          <p:cNvPr id="17" name="">
            <a:extLst xmlns:a="http://schemas.openxmlformats.org/drawingml/2006/main">
              <a:ext uri="{FF2B5EF4-FFF2-40B4-BE49-F238E27FC236}">
                <a16:creationId xmlns:a16="http://schemas.microsoft.com/office/drawing/2014/main" id="{A3C41FCE-18CF-433F-A598-9B90C74D1CFA}"/>
              </a:ext>
            </a:extLst>
          </p:cNvPr>
          <p:cNvSpPr>
            <a:spLocks xmlns:a="http://schemas.openxmlformats.org/drawingml/2006/main" noGrp="1"/>
          </p:cNvSpPr>
          <p:nvPr/>
        </p:nvSpPr>
        <p:spPr>
          <a:xfrm xmlns:a="http://schemas.openxmlformats.org/drawingml/2006/main">
            <a:off x="5572125" y="4000500"/>
            <a:ext cx="180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22283A"/>
                </a:solidFill>
                <a:latin typeface="Segoe UI"/>
                <a:ea typeface="Segoe UI"/>
                <a:cs typeface="Segoe UI"/>
              </a:defRPr>
            </a:pPr>
            <a:r>
              <a:rPr sz="2025" b="1">
                <a:solidFill>
                  <a:srgbClr val="22283A"/>
                </a:solidFill>
                <a:latin typeface="Segoe UI"/>
                <a:ea typeface="Segoe UI"/>
                <a:cs typeface="Segoe UI"/>
              </a:rPr>
              <a:t>Posventa</a:t>
            </a:r>
          </a:p>
        </p:txBody>
      </p:sp>
      <p:sp>
        <p:nvSpPr>
          <p:cNvPr id="18" name="">
            <a:extLst xmlns:a="http://schemas.openxmlformats.org/drawingml/2006/main">
              <a:ext uri="{FF2B5EF4-FFF2-40B4-BE49-F238E27FC236}">
                <a16:creationId xmlns:a16="http://schemas.microsoft.com/office/drawing/2014/main" id="{516583A6-FB92-440C-B15C-1C8AC73792C9}"/>
              </a:ext>
            </a:extLst>
          </p:cNvPr>
          <p:cNvSpPr>
            <a:spLocks xmlns:a="http://schemas.openxmlformats.org/drawingml/2006/main" noGrp="1"/>
          </p:cNvSpPr>
          <p:nvPr/>
        </p:nvSpPr>
        <p:spPr>
          <a:xfrm xmlns:a="http://schemas.openxmlformats.org/drawingml/2006/main">
            <a:off x="7429500" y="4000500"/>
            <a:ext cx="3905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a:solidFill>
                  <a:srgbClr val="667085"/>
                </a:solidFill>
                <a:latin typeface="Segoe UI"/>
                <a:ea typeface="Segoe UI"/>
                <a:cs typeface="Segoe UI"/>
              </a:defRPr>
            </a:pPr>
            <a:r>
              <a:rPr sz="1650" b="0">
                <a:solidFill>
                  <a:srgbClr val="667085"/>
                </a:solidFill>
                <a:latin typeface="Segoe UI"/>
                <a:ea typeface="Segoe UI"/>
                <a:cs typeface="Segoe UI"/>
              </a:rPr>
              <a:t>Cambios, devoluciones o retrasos obligan a retomar datos de la compra.</a:t>
            </a:r>
          </a:p>
        </p:txBody>
      </p:sp>
      <p:sp>
        <p:nvSpPr>
          <p:cNvPr id="19" name="">
            <a:extLst xmlns:a="http://schemas.openxmlformats.org/drawingml/2006/main">
              <a:ext uri="{FF2B5EF4-FFF2-40B4-BE49-F238E27FC236}">
                <a16:creationId xmlns:a16="http://schemas.microsoft.com/office/drawing/2014/main" id="{EDA36455-BA46-4CB2-8CBB-991C5D5814D8}"/>
              </a:ext>
            </a:extLst>
          </p:cNvPr>
          <p:cNvSpPr>
            <a:spLocks xmlns:a="http://schemas.openxmlformats.org/drawingml/2006/main" noGrp="1"/>
          </p:cNvSpPr>
          <p:nvPr/>
        </p:nvSpPr>
        <p:spPr>
          <a:xfrm xmlns:a="http://schemas.openxmlformats.org/drawingml/2006/main">
            <a:off x="666750" y="5314950"/>
            <a:ext cx="10858500" cy="876300"/>
          </a:xfrm>
          <a:prstGeom xmlns:a="http://schemas.openxmlformats.org/drawingml/2006/main" prst="roundRect">
            <a:avLst>
              <a:gd name="adj" fmla="val 8696"/>
            </a:avLst>
          </a:prstGeom>
          <a:solidFill xmlns:a="http://schemas.openxmlformats.org/drawingml/2006/main">
            <a:srgbClr val="ECFDF5"/>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7527C566-8FBD-4161-BE4C-7146CE7298CF}"/>
              </a:ext>
            </a:extLst>
          </p:cNvPr>
          <p:cNvSpPr>
            <a:spLocks xmlns:a="http://schemas.openxmlformats.org/drawingml/2006/main" noGrp="1"/>
          </p:cNvSpPr>
          <p:nvPr/>
        </p:nvSpPr>
        <p:spPr>
          <a:xfrm xmlns:a="http://schemas.openxmlformats.org/drawingml/2006/main">
            <a:off x="666750" y="5314950"/>
            <a:ext cx="66675" cy="876300"/>
          </a:xfrm>
          <a:prstGeom xmlns:a="http://schemas.openxmlformats.org/drawingml/2006/main" prst="roundRect">
            <a:avLst>
              <a:gd name="adj" fmla="val 50000"/>
            </a:avLst>
          </a:prstGeom>
          <a:solidFill xmlns:a="http://schemas.openxmlformats.org/drawingml/2006/main">
            <a:srgbClr val="159C7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6D9C8D31-F827-40A8-90B9-DFE3767822A5}"/>
              </a:ext>
            </a:extLst>
          </p:cNvPr>
          <p:cNvSpPr>
            <a:spLocks xmlns:a="http://schemas.openxmlformats.org/drawingml/2006/main" noGrp="1"/>
          </p:cNvSpPr>
          <p:nvPr/>
        </p:nvSpPr>
        <p:spPr>
          <a:xfrm xmlns:a="http://schemas.openxmlformats.org/drawingml/2006/main">
            <a:off x="914400" y="5476875"/>
            <a:ext cx="166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159C74"/>
                </a:solidFill>
                <a:latin typeface="Segoe UI"/>
                <a:ea typeface="Segoe UI"/>
                <a:cs typeface="Segoe UI"/>
              </a:defRPr>
            </a:pPr>
            <a:r>
              <a:rPr sz="1800" b="1">
                <a:solidFill>
                  <a:srgbClr val="159C74"/>
                </a:solidFill>
                <a:latin typeface="Segoe UI"/>
                <a:ea typeface="Segoe UI"/>
                <a:cs typeface="Segoe UI"/>
              </a:rPr>
              <a:t>Relevancia</a:t>
            </a:r>
          </a:p>
        </p:txBody>
      </p:sp>
      <p:sp>
        <p:nvSpPr>
          <p:cNvPr id="22" name="">
            <a:extLst xmlns:a="http://schemas.openxmlformats.org/drawingml/2006/main">
              <a:ext uri="{FF2B5EF4-FFF2-40B4-BE49-F238E27FC236}">
                <a16:creationId xmlns:a16="http://schemas.microsoft.com/office/drawing/2014/main" id="{9AF9B1E6-0DC3-4EA5-807E-B0F35B86BC83}"/>
              </a:ext>
            </a:extLst>
          </p:cNvPr>
          <p:cNvSpPr>
            <a:spLocks xmlns:a="http://schemas.openxmlformats.org/drawingml/2006/main" noGrp="1"/>
          </p:cNvSpPr>
          <p:nvPr/>
        </p:nvSpPr>
        <p:spPr>
          <a:xfrm xmlns:a="http://schemas.openxmlformats.org/drawingml/2006/main">
            <a:off x="2524125" y="5476875"/>
            <a:ext cx="8715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22283A"/>
                </a:solidFill>
                <a:latin typeface="Segoe UI"/>
                <a:ea typeface="Segoe UI"/>
                <a:cs typeface="Segoe UI"/>
              </a:defRPr>
            </a:pPr>
            <a:r>
              <a:rPr sz="1500" b="0">
                <a:solidFill>
                  <a:srgbClr val="22283A"/>
                </a:solidFill>
                <a:latin typeface="Segoe UI"/>
                <a:ea typeface="Segoe UI"/>
                <a:cs typeface="Segoe UI"/>
              </a:rPr>
              <a:t>Indecopi reconoce la postergación o transferencia del pasaje y exige información oportuna ante retrasos. FOX Bus busca conservar esa gestión dentro de la misma reserva.</a:t>
            </a:r>
          </a:p>
        </p:txBody>
      </p:sp>
      <p:sp>
        <p:nvSpPr>
          <p:cNvPr id="23" name="">
            <a:extLst xmlns:a="http://schemas.openxmlformats.org/drawingml/2006/main">
              <a:ext uri="{FF2B5EF4-FFF2-40B4-BE49-F238E27FC236}">
                <a16:creationId xmlns:a16="http://schemas.microsoft.com/office/drawing/2014/main" id="{16D65FA7-E324-4A25-A3E4-750477F82188}"/>
              </a:ext>
            </a:extLst>
          </p:cNvPr>
          <p:cNvSpPr>
            <a:spLocks xmlns:a="http://schemas.openxmlformats.org/drawingml/2006/main" noGrp="1"/>
          </p:cNvSpPr>
          <p:nvPr/>
        </p:nvSpPr>
        <p:spPr>
          <a:xfrm xmlns:a="http://schemas.openxmlformats.org/drawingml/2006/main">
            <a:off x="666750" y="6486525"/>
            <a:ext cx="10858500" cy="0"/>
          </a:xfrm>
          <a:prstGeom xmlns:a="http://schemas.openxmlformats.org/drawingml/2006/main" prst="line">
            <a:avLst/>
          </a:prstGeom>
          <a:noFill xmlns:a="http://schemas.openxmlformats.org/drawingml/2006/main"/>
          <a:ln xmlns:a="http://schemas.openxmlformats.org/drawingml/2006/main" w="9525">
            <a:solidFill>
              <a:srgbClr val="E4E7EC"/>
            </a:solidFill>
          </a:ln>
        </p:spPr>
      </p:sp>
      <p:sp>
        <p:nvSpPr>
          <p:cNvPr id="24" name="">
            <a:extLst xmlns:a="http://schemas.openxmlformats.org/drawingml/2006/main">
              <a:ext uri="{FF2B5EF4-FFF2-40B4-BE49-F238E27FC236}">
                <a16:creationId xmlns:a16="http://schemas.microsoft.com/office/drawing/2014/main" id="{8F21D2F3-6E36-475B-BB17-71D152298833}"/>
              </a:ext>
            </a:extLst>
          </p:cNvPr>
          <p:cNvSpPr>
            <a:spLocks xmlns:a="http://schemas.openxmlformats.org/drawingml/2006/main" noGrp="1"/>
          </p:cNvSpPr>
          <p:nvPr/>
        </p:nvSpPr>
        <p:spPr>
          <a:xfrm xmlns:a="http://schemas.openxmlformats.org/drawingml/2006/main">
            <a:off x="666750" y="6553200"/>
            <a:ext cx="323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0">
                <a:solidFill>
                  <a:srgbClr val="667085"/>
                </a:solidFill>
                <a:latin typeface="Segoe UI"/>
                <a:ea typeface="Segoe UI"/>
                <a:cs typeface="Segoe UI"/>
              </a:defRPr>
            </a:pPr>
            <a:r>
              <a:rPr sz="1050" b="0">
                <a:solidFill>
                  <a:srgbClr val="667085"/>
                </a:solidFill>
                <a:latin typeface="Segoe UI"/>
                <a:ea typeface="Segoe UI"/>
                <a:cs typeface="Segoe UI"/>
              </a:rPr>
              <a:t>FOX Bus - Avance 1 - Grupo 6</a:t>
            </a:r>
          </a:p>
        </p:txBody>
      </p:sp>
      <p:sp>
        <p:nvSpPr>
          <p:cNvPr id="25" name="">
            <a:extLst xmlns:a="http://schemas.openxmlformats.org/drawingml/2006/main">
              <a:ext uri="{FF2B5EF4-FFF2-40B4-BE49-F238E27FC236}">
                <a16:creationId xmlns:a16="http://schemas.microsoft.com/office/drawing/2014/main" id="{998F049F-3BED-4BF9-B24E-D67C87E9BCA0}"/>
              </a:ext>
            </a:extLst>
          </p:cNvPr>
          <p:cNvSpPr>
            <a:spLocks xmlns:a="http://schemas.openxmlformats.org/drawingml/2006/main" noGrp="1"/>
          </p:cNvSpPr>
          <p:nvPr/>
        </p:nvSpPr>
        <p:spPr>
          <a:xfrm xmlns:a="http://schemas.openxmlformats.org/drawingml/2006/main">
            <a:off x="11144250" y="65532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050" b="0">
                <a:solidFill>
                  <a:srgbClr val="667085"/>
                </a:solidFill>
                <a:latin typeface="Segoe UI"/>
                <a:ea typeface="Segoe UI"/>
                <a:cs typeface="Segoe UI"/>
              </a:defRPr>
            </a:pPr>
            <a:r>
              <a:rPr sz="1050" b="0">
                <a:solidFill>
                  <a:srgbClr val="667085"/>
                </a:solidFill>
                <a:latin typeface="Segoe UI"/>
                <a:ea typeface="Segoe UI"/>
                <a:cs typeface="Segoe UI"/>
              </a:rPr>
              <a:t>2</a:t>
            </a:r>
          </a:p>
        </p:txBody>
      </p:sp>
    </p:spTree>
    <p:extLst>
      <p:ext uri="{BB962C8B-B14F-4D97-AF65-F5344CB8AC3E}">
        <p14:creationId xmlns:p14="http://schemas.microsoft.com/office/powerpoint/2010/main" val="214597374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E42705D-8684-4501-B915-D3529A4FA0A4}"/>
              </a:ext>
            </a:extLst>
          </p:cNvPr>
          <p:cNvSpPr>
            <a:spLocks xmlns:a="http://schemas.openxmlformats.org/drawingml/2006/main" noGrp="1"/>
          </p:cNvSpPr>
          <p:nvPr/>
        </p:nvSpPr>
        <p:spPr>
          <a:xfrm xmlns:a="http://schemas.openxmlformats.org/drawingml/2006/main">
            <a:off x="666750" y="400050"/>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D92375"/>
                </a:solidFill>
                <a:latin typeface="Segoe UI"/>
                <a:ea typeface="Segoe UI"/>
                <a:cs typeface="Segoe UI"/>
              </a:defRPr>
            </a:pPr>
            <a:r>
              <a:rPr sz="1350" b="1">
                <a:solidFill>
                  <a:srgbClr val="D92375"/>
                </a:solidFill>
                <a:latin typeface="Segoe UI"/>
                <a:ea typeface="Segoe UI"/>
                <a:cs typeface="Segoe UI"/>
              </a:rPr>
              <a:t>SOLUCIÓN E INNOVACIÓN</a:t>
            </a:r>
          </a:p>
        </p:txBody>
      </p:sp>
      <p:sp>
        <p:nvSpPr>
          <p:cNvPr id="2" name="">
            <a:extLst xmlns:a="http://schemas.openxmlformats.org/drawingml/2006/main">
              <a:ext uri="{FF2B5EF4-FFF2-40B4-BE49-F238E27FC236}">
                <a16:creationId xmlns:a16="http://schemas.microsoft.com/office/drawing/2014/main" id="{5EEDA02F-880A-484E-891A-FE500FDB3481}"/>
              </a:ext>
            </a:extLst>
          </p:cNvPr>
          <p:cNvSpPr>
            <a:spLocks xmlns:a="http://schemas.openxmlformats.org/drawingml/2006/main" noGrp="1"/>
          </p:cNvSpPr>
          <p:nvPr/>
        </p:nvSpPr>
        <p:spPr>
          <a:xfrm xmlns:a="http://schemas.openxmlformats.org/drawingml/2006/main">
            <a:off x="666750" y="74295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600" b="1">
                <a:solidFill>
                  <a:srgbClr val="22283A"/>
                </a:solidFill>
                <a:latin typeface="Segoe UI"/>
                <a:ea typeface="Segoe UI"/>
                <a:cs typeface="Segoe UI"/>
              </a:defRPr>
            </a:pPr>
            <a:r>
              <a:rPr sz="3600" b="1">
                <a:solidFill>
                  <a:srgbClr val="22283A"/>
                </a:solidFill>
                <a:latin typeface="Segoe UI"/>
                <a:ea typeface="Segoe UI"/>
                <a:cs typeface="Segoe UI"/>
              </a:rPr>
              <a:t>Una reserva que conserva su estado</a:t>
            </a:r>
          </a:p>
        </p:txBody>
      </p:sp>
      <p:sp>
        <p:nvSpPr>
          <p:cNvPr id="3" name="">
            <a:extLst xmlns:a="http://schemas.openxmlformats.org/drawingml/2006/main">
              <a:ext uri="{FF2B5EF4-FFF2-40B4-BE49-F238E27FC236}">
                <a16:creationId xmlns:a16="http://schemas.microsoft.com/office/drawing/2014/main" id="{DCCBC09F-8A33-49EC-91E5-EA1B004A7B0F}"/>
              </a:ext>
            </a:extLst>
          </p:cNvPr>
          <p:cNvSpPr>
            <a:spLocks xmlns:a="http://schemas.openxmlformats.org/drawingml/2006/main" noGrp="1"/>
          </p:cNvSpPr>
          <p:nvPr/>
        </p:nvSpPr>
        <p:spPr>
          <a:xfrm xmlns:a="http://schemas.openxmlformats.org/drawingml/2006/main">
            <a:off x="666750" y="1657350"/>
            <a:ext cx="4476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22283A"/>
                </a:solidFill>
                <a:latin typeface="Segoe UI"/>
                <a:ea typeface="Segoe UI"/>
                <a:cs typeface="Segoe UI"/>
              </a:defRPr>
            </a:pPr>
            <a:r>
              <a:rPr sz="2700" b="1">
                <a:solidFill>
                  <a:srgbClr val="22283A"/>
                </a:solidFill>
                <a:latin typeface="Segoe UI"/>
                <a:ea typeface="Segoe UI"/>
                <a:cs typeface="Segoe UI"/>
              </a:rPr>
              <a:t>FOX Bus integra el recorrido del pasaje en un solo flujo digital.</a:t>
            </a:r>
          </a:p>
        </p:txBody>
      </p:sp>
      <p:sp>
        <p:nvSpPr>
          <p:cNvPr id="4" name="">
            <a:extLst xmlns:a="http://schemas.openxmlformats.org/drawingml/2006/main">
              <a:ext uri="{FF2B5EF4-FFF2-40B4-BE49-F238E27FC236}">
                <a16:creationId xmlns:a16="http://schemas.microsoft.com/office/drawing/2014/main" id="{32FE1AC2-947E-4A5C-8E77-DE6AA366FEE2}"/>
              </a:ext>
            </a:extLst>
          </p:cNvPr>
          <p:cNvSpPr>
            <a:spLocks xmlns:a="http://schemas.openxmlformats.org/drawingml/2006/main" noGrp="1"/>
          </p:cNvSpPr>
          <p:nvPr/>
        </p:nvSpPr>
        <p:spPr>
          <a:xfrm xmlns:a="http://schemas.openxmlformats.org/drawingml/2006/main">
            <a:off x="723900" y="2876550"/>
            <a:ext cx="4429125"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41300" indent="-114300">
              <a:spcAft>
                <a:spcPts val="1000"/>
              </a:spcAft>
              <a:buChar char="•"/>
              <a:defRPr sz="1725">
                <a:solidFill>
                  <a:srgbClr val="22283A"/>
                </a:solidFill>
                <a:latin typeface="Segoe UI"/>
                <a:ea typeface="Segoe UI"/>
                <a:cs typeface="Segoe UI"/>
              </a:defRPr>
            </a:pPr>
            <a:r>
              <a:rPr sz="1725">
                <a:solidFill>
                  <a:srgbClr val="22283A"/>
                </a:solidFill>
                <a:latin typeface="Segoe UI"/>
                <a:ea typeface="Segoe UI"/>
                <a:cs typeface="Segoe UI"/>
              </a:rPr>
              <a:t>Búsqueda, viaje y asiento vinculados a una reserva.</a:t>
            </a:r>
          </a:p>
          <a:p xmlns:a="http://schemas.openxmlformats.org/drawingml/2006/main">
            <a:pPr marL="241300" indent="-114300">
              <a:spcAft>
                <a:spcPts val="1000"/>
              </a:spcAft>
              <a:buChar char="•"/>
              <a:defRPr sz="1725">
                <a:solidFill>
                  <a:srgbClr val="22283A"/>
                </a:solidFill>
                <a:latin typeface="Segoe UI"/>
                <a:ea typeface="Segoe UI"/>
                <a:cs typeface="Segoe UI"/>
              </a:defRPr>
            </a:pPr>
            <a:r>
              <a:rPr sz="1725">
                <a:solidFill>
                  <a:srgbClr val="22283A"/>
                </a:solidFill>
                <a:latin typeface="Segoe UI"/>
                <a:ea typeface="Segoe UI"/>
                <a:cs typeface="Segoe UI"/>
              </a:rPr>
              <a:t>Boleto QR propuesto para el abordaje.</a:t>
            </a:r>
          </a:p>
          <a:p xmlns:a="http://schemas.openxmlformats.org/drawingml/2006/main">
            <a:pPr marL="241300" indent="-114300">
              <a:spcAft>
                <a:spcPts val="1000"/>
              </a:spcAft>
              <a:buChar char="•"/>
              <a:defRPr sz="1725">
                <a:solidFill>
                  <a:srgbClr val="22283A"/>
                </a:solidFill>
                <a:latin typeface="Segoe UI"/>
                <a:ea typeface="Segoe UI"/>
                <a:cs typeface="Segoe UI"/>
              </a:defRPr>
            </a:pPr>
            <a:r>
              <a:rPr sz="1725">
                <a:solidFill>
                  <a:srgbClr val="22283A"/>
                </a:solidFill>
                <a:latin typeface="Segoe UI"/>
                <a:ea typeface="Segoe UI"/>
                <a:cs typeface="Segoe UI"/>
              </a:rPr>
              <a:t>Posventa guiada para reprogramar, solicitar devolución o reportar retraso.</a:t>
            </a:r>
          </a:p>
          <a:p xmlns:a="http://schemas.openxmlformats.org/drawingml/2006/main">
            <a:pPr marL="241300" indent="-114300">
              <a:spcAft>
                <a:spcPts val="1000"/>
              </a:spcAft>
              <a:buChar char="•"/>
              <a:defRPr sz="1725">
                <a:solidFill>
                  <a:srgbClr val="22283A"/>
                </a:solidFill>
                <a:latin typeface="Segoe UI"/>
                <a:ea typeface="Segoe UI"/>
                <a:cs typeface="Segoe UI"/>
              </a:defRPr>
            </a:pPr>
            <a:r>
              <a:rPr sz="1725">
                <a:solidFill>
                  <a:srgbClr val="22283A"/>
                </a:solidFill>
                <a:latin typeface="Segoe UI"/>
                <a:ea typeface="Segoe UI"/>
                <a:cs typeface="Segoe UI"/>
              </a:rPr>
              <a:t>Panel operativo asociado al mismo estado de la reserva.</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1ff63f593d6d4b7b"/>
          <a:srcRect xmlns:a="http://schemas.openxmlformats.org/drawingml/2006/main" l="31" t="0" r="31" b="0"/>
          <a:stretch xmlns:a="http://schemas.openxmlformats.org/drawingml/2006/main">
            <a:fillRect l="0" t="0" r="0" b="0"/>
          </a:stretch>
        </p:blipFill>
        <p:spPr>
          <a:xfrm xmlns:a="http://schemas.openxmlformats.org/drawingml/2006/main">
            <a:off x="5572125" y="1676400"/>
            <a:ext cx="5953125" cy="3352800"/>
          </a:xfrm>
          <a:prstGeom xmlns:a="http://schemas.openxmlformats.org/drawingml/2006/main" prst="roundRect">
            <a:avLst>
              <a:gd name="adj" fmla="val 3409"/>
            </a:avLst>
          </a:prstGeom>
        </p:spPr>
      </p:pic>
      <p:sp>
        <p:nvSpPr>
          <p:cNvPr id="6" name="">
            <a:extLst xmlns:a="http://schemas.openxmlformats.org/drawingml/2006/main">
              <a:ext uri="{FF2B5EF4-FFF2-40B4-BE49-F238E27FC236}">
                <a16:creationId xmlns:a16="http://schemas.microsoft.com/office/drawing/2014/main" id="{E1DE33E3-F679-481E-8B70-93EE4CCAA0A1}"/>
              </a:ext>
            </a:extLst>
          </p:cNvPr>
          <p:cNvSpPr>
            <a:spLocks xmlns:a="http://schemas.openxmlformats.org/drawingml/2006/main" noGrp="1"/>
          </p:cNvSpPr>
          <p:nvPr/>
        </p:nvSpPr>
        <p:spPr>
          <a:xfrm xmlns:a="http://schemas.openxmlformats.org/drawingml/2006/main">
            <a:off x="5572125" y="5124450"/>
            <a:ext cx="5953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Segoe UI"/>
                <a:ea typeface="Segoe UI"/>
                <a:cs typeface="Segoe UI"/>
              </a:defRPr>
            </a:pPr>
            <a:r>
              <a:rPr sz="1125" b="0">
                <a:solidFill>
                  <a:srgbClr val="667085"/>
                </a:solidFill>
                <a:latin typeface="Segoe UI"/>
                <a:ea typeface="Segoe UI"/>
                <a:cs typeface="Segoe UI"/>
              </a:rPr>
              <a:t>Captura del prototipo actual. Las acciones se identifican como demostrativas.</a:t>
            </a:r>
          </a:p>
        </p:txBody>
      </p:sp>
      <p:sp>
        <p:nvSpPr>
          <p:cNvPr id="7" name="">
            <a:extLst xmlns:a="http://schemas.openxmlformats.org/drawingml/2006/main">
              <a:ext uri="{FF2B5EF4-FFF2-40B4-BE49-F238E27FC236}">
                <a16:creationId xmlns:a16="http://schemas.microsoft.com/office/drawing/2014/main" id="{17F78785-CB98-4DBF-9877-BCDBA67DB5C0}"/>
              </a:ext>
            </a:extLst>
          </p:cNvPr>
          <p:cNvSpPr>
            <a:spLocks xmlns:a="http://schemas.openxmlformats.org/drawingml/2006/main" noGrp="1"/>
          </p:cNvSpPr>
          <p:nvPr/>
        </p:nvSpPr>
        <p:spPr>
          <a:xfrm xmlns:a="http://schemas.openxmlformats.org/drawingml/2006/main">
            <a:off x="666750" y="5619750"/>
            <a:ext cx="10858500" cy="628650"/>
          </a:xfrm>
          <a:prstGeom xmlns:a="http://schemas.openxmlformats.org/drawingml/2006/main" prst="roundRect">
            <a:avLst>
              <a:gd name="adj" fmla="val 12121"/>
            </a:avLst>
          </a:prstGeom>
          <a:solidFill xmlns:a="http://schemas.openxmlformats.org/drawingml/2006/main">
            <a:srgbClr val="FFF0F7"/>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65630CA-87CF-48D0-8047-60B67C00049C}"/>
              </a:ext>
            </a:extLst>
          </p:cNvPr>
          <p:cNvSpPr>
            <a:spLocks xmlns:a="http://schemas.openxmlformats.org/drawingml/2006/main" noGrp="1"/>
          </p:cNvSpPr>
          <p:nvPr/>
        </p:nvSpPr>
        <p:spPr>
          <a:xfrm xmlns:a="http://schemas.openxmlformats.org/drawingml/2006/main">
            <a:off x="914400" y="5791200"/>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D92375"/>
                </a:solidFill>
                <a:latin typeface="Segoe UI"/>
                <a:ea typeface="Segoe UI"/>
                <a:cs typeface="Segoe UI"/>
              </a:defRPr>
            </a:pPr>
            <a:r>
              <a:rPr sz="1800" b="1">
                <a:solidFill>
                  <a:srgbClr val="D92375"/>
                </a:solidFill>
                <a:latin typeface="Segoe UI"/>
                <a:ea typeface="Segoe UI"/>
                <a:cs typeface="Segoe UI"/>
              </a:rPr>
              <a:t>Diferenciación</a:t>
            </a:r>
          </a:p>
        </p:txBody>
      </p:sp>
      <p:sp>
        <p:nvSpPr>
          <p:cNvPr id="9" name="">
            <a:extLst xmlns:a="http://schemas.openxmlformats.org/drawingml/2006/main">
              <a:ext uri="{FF2B5EF4-FFF2-40B4-BE49-F238E27FC236}">
                <a16:creationId xmlns:a16="http://schemas.microsoft.com/office/drawing/2014/main" id="{18E841EA-AB60-4E24-8672-1191EA548F9B}"/>
              </a:ext>
            </a:extLst>
          </p:cNvPr>
          <p:cNvSpPr>
            <a:spLocks xmlns:a="http://schemas.openxmlformats.org/drawingml/2006/main" noGrp="1"/>
          </p:cNvSpPr>
          <p:nvPr/>
        </p:nvSpPr>
        <p:spPr>
          <a:xfrm xmlns:a="http://schemas.openxmlformats.org/drawingml/2006/main">
            <a:off x="2781300" y="5791200"/>
            <a:ext cx="8334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22283A"/>
                </a:solidFill>
                <a:latin typeface="Segoe UI"/>
                <a:ea typeface="Segoe UI"/>
                <a:cs typeface="Segoe UI"/>
              </a:defRPr>
            </a:pPr>
            <a:r>
              <a:rPr sz="1575" b="0">
                <a:solidFill>
                  <a:srgbClr val="22283A"/>
                </a:solidFill>
                <a:latin typeface="Segoe UI"/>
                <a:ea typeface="Segoe UI"/>
                <a:cs typeface="Segoe UI"/>
              </a:rPr>
              <a:t>La diferencia está en conectar las etapas, no en presentar cada función como inédita.</a:t>
            </a:r>
          </a:p>
        </p:txBody>
      </p:sp>
      <p:sp>
        <p:nvSpPr>
          <p:cNvPr id="10" name="">
            <a:extLst xmlns:a="http://schemas.openxmlformats.org/drawingml/2006/main">
              <a:ext uri="{FF2B5EF4-FFF2-40B4-BE49-F238E27FC236}">
                <a16:creationId xmlns:a16="http://schemas.microsoft.com/office/drawing/2014/main" id="{2D7E77EA-A603-4CEC-AFA8-4B0266217C96}"/>
              </a:ext>
            </a:extLst>
          </p:cNvPr>
          <p:cNvSpPr>
            <a:spLocks xmlns:a="http://schemas.openxmlformats.org/drawingml/2006/main" noGrp="1"/>
          </p:cNvSpPr>
          <p:nvPr/>
        </p:nvSpPr>
        <p:spPr>
          <a:xfrm xmlns:a="http://schemas.openxmlformats.org/drawingml/2006/main">
            <a:off x="666750" y="6486525"/>
            <a:ext cx="10858500" cy="0"/>
          </a:xfrm>
          <a:prstGeom xmlns:a="http://schemas.openxmlformats.org/drawingml/2006/main" prst="line">
            <a:avLst/>
          </a:prstGeom>
          <a:noFill xmlns:a="http://schemas.openxmlformats.org/drawingml/2006/main"/>
          <a:ln xmlns:a="http://schemas.openxmlformats.org/drawingml/2006/main" w="9525">
            <a:solidFill>
              <a:srgbClr val="E4E7EC"/>
            </a:solidFill>
          </a:ln>
        </p:spPr>
      </p:sp>
      <p:sp>
        <p:nvSpPr>
          <p:cNvPr id="11" name="">
            <a:extLst xmlns:a="http://schemas.openxmlformats.org/drawingml/2006/main">
              <a:ext uri="{FF2B5EF4-FFF2-40B4-BE49-F238E27FC236}">
                <a16:creationId xmlns:a16="http://schemas.microsoft.com/office/drawing/2014/main" id="{302A2689-7818-4E85-9BA4-7C7757FE4FB6}"/>
              </a:ext>
            </a:extLst>
          </p:cNvPr>
          <p:cNvSpPr>
            <a:spLocks xmlns:a="http://schemas.openxmlformats.org/drawingml/2006/main" noGrp="1"/>
          </p:cNvSpPr>
          <p:nvPr/>
        </p:nvSpPr>
        <p:spPr>
          <a:xfrm xmlns:a="http://schemas.openxmlformats.org/drawingml/2006/main">
            <a:off x="666750" y="6553200"/>
            <a:ext cx="323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0">
                <a:solidFill>
                  <a:srgbClr val="667085"/>
                </a:solidFill>
                <a:latin typeface="Segoe UI"/>
                <a:ea typeface="Segoe UI"/>
                <a:cs typeface="Segoe UI"/>
              </a:defRPr>
            </a:pPr>
            <a:r>
              <a:rPr sz="1050" b="0">
                <a:solidFill>
                  <a:srgbClr val="667085"/>
                </a:solidFill>
                <a:latin typeface="Segoe UI"/>
                <a:ea typeface="Segoe UI"/>
                <a:cs typeface="Segoe UI"/>
              </a:rPr>
              <a:t>FOX Bus - Avance 1 - Grupo 6</a:t>
            </a:r>
          </a:p>
        </p:txBody>
      </p:sp>
      <p:sp>
        <p:nvSpPr>
          <p:cNvPr id="12" name="">
            <a:extLst xmlns:a="http://schemas.openxmlformats.org/drawingml/2006/main">
              <a:ext uri="{FF2B5EF4-FFF2-40B4-BE49-F238E27FC236}">
                <a16:creationId xmlns:a16="http://schemas.microsoft.com/office/drawing/2014/main" id="{A696AFA1-CEC3-4DDA-88B1-9DAE6F0709A2}"/>
              </a:ext>
            </a:extLst>
          </p:cNvPr>
          <p:cNvSpPr>
            <a:spLocks xmlns:a="http://schemas.openxmlformats.org/drawingml/2006/main" noGrp="1"/>
          </p:cNvSpPr>
          <p:nvPr/>
        </p:nvSpPr>
        <p:spPr>
          <a:xfrm xmlns:a="http://schemas.openxmlformats.org/drawingml/2006/main">
            <a:off x="11144250" y="65532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050" b="0">
                <a:solidFill>
                  <a:srgbClr val="667085"/>
                </a:solidFill>
                <a:latin typeface="Segoe UI"/>
                <a:ea typeface="Segoe UI"/>
                <a:cs typeface="Segoe UI"/>
              </a:defRPr>
            </a:pPr>
            <a:r>
              <a:rPr sz="1050" b="0">
                <a:solidFill>
                  <a:srgbClr val="667085"/>
                </a:solidFill>
                <a:latin typeface="Segoe UI"/>
                <a:ea typeface="Segoe UI"/>
                <a:cs typeface="Segoe UI"/>
              </a:rPr>
              <a:t>3</a:t>
            </a:r>
          </a:p>
        </p:txBody>
      </p:sp>
    </p:spTree>
    <p:extLst>
      <p:ext uri="{BB962C8B-B14F-4D97-AF65-F5344CB8AC3E}">
        <p14:creationId xmlns:p14="http://schemas.microsoft.com/office/powerpoint/2010/main" val="149369775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0655EE6-3610-4A60-9F12-BFC3B11D32AA}"/>
              </a:ext>
            </a:extLst>
          </p:cNvPr>
          <p:cNvSpPr>
            <a:spLocks xmlns:a="http://schemas.openxmlformats.org/drawingml/2006/main" noGrp="1"/>
          </p:cNvSpPr>
          <p:nvPr/>
        </p:nvSpPr>
        <p:spPr>
          <a:xfrm xmlns:a="http://schemas.openxmlformats.org/drawingml/2006/main">
            <a:off x="666750" y="400050"/>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D92375"/>
                </a:solidFill>
                <a:latin typeface="Segoe UI"/>
                <a:ea typeface="Segoe UI"/>
                <a:cs typeface="Segoe UI"/>
              </a:defRPr>
            </a:pPr>
            <a:r>
              <a:rPr sz="1350" b="1">
                <a:solidFill>
                  <a:srgbClr val="D92375"/>
                </a:solidFill>
                <a:latin typeface="Segoe UI"/>
                <a:ea typeface="Segoe UI"/>
                <a:cs typeface="Segoe UI"/>
              </a:rPr>
              <a:t>QUÉ EXISTE Y QUÉ SIGUE</a:t>
            </a:r>
          </a:p>
        </p:txBody>
      </p:sp>
      <p:sp>
        <p:nvSpPr>
          <p:cNvPr id="2" name="">
            <a:extLst xmlns:a="http://schemas.openxmlformats.org/drawingml/2006/main">
              <a:ext uri="{FF2B5EF4-FFF2-40B4-BE49-F238E27FC236}">
                <a16:creationId xmlns:a16="http://schemas.microsoft.com/office/drawing/2014/main" id="{872AF30E-3B09-4A6E-AFEE-305EA03F3083}"/>
              </a:ext>
            </a:extLst>
          </p:cNvPr>
          <p:cNvSpPr>
            <a:spLocks xmlns:a="http://schemas.openxmlformats.org/drawingml/2006/main" noGrp="1"/>
          </p:cNvSpPr>
          <p:nvPr/>
        </p:nvSpPr>
        <p:spPr>
          <a:xfrm xmlns:a="http://schemas.openxmlformats.org/drawingml/2006/main">
            <a:off x="666750" y="74295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600" b="1">
                <a:solidFill>
                  <a:srgbClr val="22283A"/>
                </a:solidFill>
                <a:latin typeface="Segoe UI"/>
                <a:ea typeface="Segoe UI"/>
                <a:cs typeface="Segoe UI"/>
              </a:defRPr>
            </a:pPr>
            <a:r>
              <a:rPr sz="3600" b="1">
                <a:solidFill>
                  <a:srgbClr val="22283A"/>
                </a:solidFill>
                <a:latin typeface="Segoe UI"/>
                <a:ea typeface="Segoe UI"/>
                <a:cs typeface="Segoe UI"/>
              </a:rPr>
              <a:t>Alcance del MVP</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fd450eaf1ae491f"/>
          <a:srcRect xmlns:a="http://schemas.openxmlformats.org/drawingml/2006/main" l="0" t="34426" r="0" b="34426"/>
          <a:stretch xmlns:a="http://schemas.openxmlformats.org/drawingml/2006/main">
            <a:fillRect l="0" t="0" r="0" b="0"/>
          </a:stretch>
        </p:blipFill>
        <p:spPr>
          <a:xfrm xmlns:a="http://schemas.openxmlformats.org/drawingml/2006/main">
            <a:off x="666750" y="1581150"/>
            <a:ext cx="6858000" cy="4000500"/>
          </a:xfrm>
          <a:prstGeom xmlns:a="http://schemas.openxmlformats.org/drawingml/2006/main" prst="roundRect">
            <a:avLst>
              <a:gd name="adj" fmla="val 2857"/>
            </a:avLst>
          </a:prstGeom>
        </p:spPr>
      </p:pic>
      <p:sp>
        <p:nvSpPr>
          <p:cNvPr id="4" name="">
            <a:extLst xmlns:a="http://schemas.openxmlformats.org/drawingml/2006/main">
              <a:ext uri="{FF2B5EF4-FFF2-40B4-BE49-F238E27FC236}">
                <a16:creationId xmlns:a16="http://schemas.microsoft.com/office/drawing/2014/main" id="{C66CD6E3-D626-43AA-B5AF-F282ED9F16A9}"/>
              </a:ext>
            </a:extLst>
          </p:cNvPr>
          <p:cNvSpPr>
            <a:spLocks xmlns:a="http://schemas.openxmlformats.org/drawingml/2006/main" noGrp="1"/>
          </p:cNvSpPr>
          <p:nvPr/>
        </p:nvSpPr>
        <p:spPr>
          <a:xfrm xmlns:a="http://schemas.openxmlformats.org/drawingml/2006/main">
            <a:off x="666750" y="5705475"/>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667085"/>
                </a:solidFill>
                <a:latin typeface="Segoe UI"/>
                <a:ea typeface="Segoe UI"/>
                <a:cs typeface="Segoe UI"/>
              </a:defRPr>
            </a:pPr>
            <a:r>
              <a:rPr sz="1200" b="1">
                <a:solidFill>
                  <a:srgbClr val="667085"/>
                </a:solidFill>
                <a:latin typeface="Segoe UI"/>
                <a:ea typeface="Segoe UI"/>
                <a:cs typeface="Segoe UI"/>
              </a:rPr>
              <a:t>Frontend navegable del repositorio</a:t>
            </a:r>
          </a:p>
        </p:txBody>
      </p:sp>
      <p:sp>
        <p:nvSpPr>
          <p:cNvPr id="5" name="">
            <a:extLst xmlns:a="http://schemas.openxmlformats.org/drawingml/2006/main">
              <a:ext uri="{FF2B5EF4-FFF2-40B4-BE49-F238E27FC236}">
                <a16:creationId xmlns:a16="http://schemas.microsoft.com/office/drawing/2014/main" id="{AFA5EC87-A42B-425C-AF93-76A8ED85B1A6}"/>
              </a:ext>
            </a:extLst>
          </p:cNvPr>
          <p:cNvSpPr>
            <a:spLocks xmlns:a="http://schemas.openxmlformats.org/drawingml/2006/main" noGrp="1"/>
          </p:cNvSpPr>
          <p:nvPr/>
        </p:nvSpPr>
        <p:spPr>
          <a:xfrm xmlns:a="http://schemas.openxmlformats.org/drawingml/2006/main">
            <a:off x="8001000" y="161925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D92375"/>
                </a:solidFill>
                <a:latin typeface="Segoe UI"/>
                <a:ea typeface="Segoe UI"/>
                <a:cs typeface="Segoe UI"/>
              </a:defRPr>
            </a:pPr>
            <a:r>
              <a:rPr sz="2325" b="1">
                <a:solidFill>
                  <a:srgbClr val="D92375"/>
                </a:solidFill>
                <a:latin typeface="Segoe UI"/>
                <a:ea typeface="Segoe UI"/>
                <a:cs typeface="Segoe UI"/>
              </a:rPr>
              <a:t>Funciona hoy</a:t>
            </a:r>
          </a:p>
        </p:txBody>
      </p:sp>
      <p:sp>
        <p:nvSpPr>
          <p:cNvPr id="6" name="">
            <a:extLst xmlns:a="http://schemas.openxmlformats.org/drawingml/2006/main">
              <a:ext uri="{FF2B5EF4-FFF2-40B4-BE49-F238E27FC236}">
                <a16:creationId xmlns:a16="http://schemas.microsoft.com/office/drawing/2014/main" id="{43427AD5-84D8-4904-AC5F-89EDE74B77E0}"/>
              </a:ext>
            </a:extLst>
          </p:cNvPr>
          <p:cNvSpPr>
            <a:spLocks xmlns:a="http://schemas.openxmlformats.org/drawingml/2006/main" noGrp="1"/>
          </p:cNvSpPr>
          <p:nvPr/>
        </p:nvSpPr>
        <p:spPr>
          <a:xfrm xmlns:a="http://schemas.openxmlformats.org/drawingml/2006/main">
            <a:off x="8020050" y="2114550"/>
            <a:ext cx="3429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41300" indent="-114300">
              <a:spcAft>
                <a:spcPts val="600"/>
              </a:spcAft>
              <a:buChar char="•"/>
              <a:defRPr sz="1425">
                <a:solidFill>
                  <a:srgbClr val="22283A"/>
                </a:solidFill>
                <a:latin typeface="Segoe UI"/>
                <a:ea typeface="Segoe UI"/>
                <a:cs typeface="Segoe UI"/>
              </a:defRPr>
            </a:pPr>
            <a:r>
              <a:rPr sz="1425">
                <a:solidFill>
                  <a:srgbClr val="22283A"/>
                </a:solidFill>
                <a:latin typeface="Segoe UI"/>
                <a:ea typeface="Segoe UI"/>
                <a:cs typeface="Segoe UI"/>
              </a:rPr>
              <a:t>Buscador, resultados y selección de asiento.</a:t>
            </a:r>
          </a:p>
          <a:p xmlns:a="http://schemas.openxmlformats.org/drawingml/2006/main">
            <a:pPr marL="241300" indent="-114300">
              <a:spcAft>
                <a:spcPts val="600"/>
              </a:spcAft>
              <a:buChar char="•"/>
              <a:defRPr sz="1425">
                <a:solidFill>
                  <a:srgbClr val="22283A"/>
                </a:solidFill>
                <a:latin typeface="Segoe UI"/>
                <a:ea typeface="Segoe UI"/>
                <a:cs typeface="Segoe UI"/>
              </a:defRPr>
            </a:pPr>
            <a:r>
              <a:rPr sz="1425">
                <a:solidFill>
                  <a:srgbClr val="22283A"/>
                </a:solidFill>
                <a:latin typeface="Segoe UI"/>
                <a:ea typeface="Segoe UI"/>
                <a:cs typeface="Segoe UI"/>
              </a:rPr>
              <a:t>Checkout y reservas con datos simulados.</a:t>
            </a:r>
          </a:p>
          <a:p xmlns:a="http://schemas.openxmlformats.org/drawingml/2006/main">
            <a:pPr marL="241300" indent="-114300">
              <a:spcAft>
                <a:spcPts val="600"/>
              </a:spcAft>
              <a:buChar char="•"/>
              <a:defRPr sz="1425">
                <a:solidFill>
                  <a:srgbClr val="22283A"/>
                </a:solidFill>
                <a:latin typeface="Segoe UI"/>
                <a:ea typeface="Segoe UI"/>
                <a:cs typeface="Segoe UI"/>
              </a:defRPr>
            </a:pPr>
            <a:r>
              <a:rPr sz="1425">
                <a:solidFill>
                  <a:srgbClr val="22283A"/>
                </a:solidFill>
                <a:latin typeface="Segoe UI"/>
                <a:ea typeface="Segoe UI"/>
                <a:cs typeface="Segoe UI"/>
              </a:rPr>
              <a:t>FoxBot con respuestas predefinidas.</a:t>
            </a:r>
          </a:p>
          <a:p xmlns:a="http://schemas.openxmlformats.org/drawingml/2006/main">
            <a:pPr marL="241300" indent="-114300">
              <a:spcAft>
                <a:spcPts val="600"/>
              </a:spcAft>
              <a:buChar char="•"/>
              <a:defRPr sz="1425">
                <a:solidFill>
                  <a:srgbClr val="22283A"/>
                </a:solidFill>
                <a:latin typeface="Segoe UI"/>
                <a:ea typeface="Segoe UI"/>
                <a:cs typeface="Segoe UI"/>
              </a:defRPr>
            </a:pPr>
            <a:r>
              <a:rPr sz="1425">
                <a:solidFill>
                  <a:srgbClr val="22283A"/>
                </a:solidFill>
                <a:latin typeface="Segoe UI"/>
                <a:ea typeface="Segoe UI"/>
                <a:cs typeface="Segoe UI"/>
              </a:rPr>
              <a:t>Dashboard con información de muestra.</a:t>
            </a:r>
          </a:p>
        </p:txBody>
      </p:sp>
      <p:sp>
        <p:nvSpPr>
          <p:cNvPr id="7" name="">
            <a:extLst xmlns:a="http://schemas.openxmlformats.org/drawingml/2006/main">
              <a:ext uri="{FF2B5EF4-FFF2-40B4-BE49-F238E27FC236}">
                <a16:creationId xmlns:a16="http://schemas.microsoft.com/office/drawing/2014/main" id="{495997AC-4012-4F76-8B1A-4580FA4A0A4D}"/>
              </a:ext>
            </a:extLst>
          </p:cNvPr>
          <p:cNvSpPr>
            <a:spLocks xmlns:a="http://schemas.openxmlformats.org/drawingml/2006/main" noGrp="1"/>
          </p:cNvSpPr>
          <p:nvPr/>
        </p:nvSpPr>
        <p:spPr>
          <a:xfrm xmlns:a="http://schemas.openxmlformats.org/drawingml/2006/main">
            <a:off x="8001000" y="390525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50" b="1">
                <a:solidFill>
                  <a:srgbClr val="7C3AED"/>
                </a:solidFill>
                <a:latin typeface="Segoe UI"/>
                <a:ea typeface="Segoe UI"/>
                <a:cs typeface="Segoe UI"/>
              </a:defRPr>
            </a:pPr>
            <a:r>
              <a:rPr sz="2250" b="1">
                <a:solidFill>
                  <a:srgbClr val="7C3AED"/>
                </a:solidFill>
                <a:latin typeface="Segoe UI"/>
                <a:ea typeface="Segoe UI"/>
                <a:cs typeface="Segoe UI"/>
              </a:rPr>
              <a:t>Siguiente iteración</a:t>
            </a:r>
          </a:p>
        </p:txBody>
      </p:sp>
      <p:sp>
        <p:nvSpPr>
          <p:cNvPr id="8" name="">
            <a:extLst xmlns:a="http://schemas.openxmlformats.org/drawingml/2006/main">
              <a:ext uri="{FF2B5EF4-FFF2-40B4-BE49-F238E27FC236}">
                <a16:creationId xmlns:a16="http://schemas.microsoft.com/office/drawing/2014/main" id="{F895420F-A289-4741-9182-64DF8973981E}"/>
              </a:ext>
            </a:extLst>
          </p:cNvPr>
          <p:cNvSpPr>
            <a:spLocks xmlns:a="http://schemas.openxmlformats.org/drawingml/2006/main" noGrp="1"/>
          </p:cNvSpPr>
          <p:nvPr/>
        </p:nvSpPr>
        <p:spPr>
          <a:xfrm xmlns:a="http://schemas.openxmlformats.org/drawingml/2006/main">
            <a:off x="8020050" y="4362450"/>
            <a:ext cx="34290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41300" indent="-114300">
              <a:spcAft>
                <a:spcPts val="600"/>
              </a:spcAft>
              <a:buChar char="•"/>
              <a:defRPr sz="1425">
                <a:solidFill>
                  <a:srgbClr val="22283A"/>
                </a:solidFill>
                <a:latin typeface="Segoe UI"/>
                <a:ea typeface="Segoe UI"/>
                <a:cs typeface="Segoe UI"/>
              </a:defRPr>
            </a:pPr>
            <a:r>
              <a:rPr sz="1425">
                <a:solidFill>
                  <a:srgbClr val="22283A"/>
                </a:solidFill>
                <a:latin typeface="Segoe UI"/>
                <a:ea typeface="Segoe UI"/>
                <a:cs typeface="Segoe UI"/>
              </a:rPr>
              <a:t>Backend, autenticación y base de datos.</a:t>
            </a:r>
          </a:p>
          <a:p xmlns:a="http://schemas.openxmlformats.org/drawingml/2006/main">
            <a:pPr marL="241300" indent="-114300">
              <a:spcAft>
                <a:spcPts val="600"/>
              </a:spcAft>
              <a:buChar char="•"/>
              <a:defRPr sz="1425">
                <a:solidFill>
                  <a:srgbClr val="22283A"/>
                </a:solidFill>
                <a:latin typeface="Segoe UI"/>
                <a:ea typeface="Segoe UI"/>
                <a:cs typeface="Segoe UI"/>
              </a:defRPr>
            </a:pPr>
            <a:r>
              <a:rPr sz="1425">
                <a:solidFill>
                  <a:srgbClr val="22283A"/>
                </a:solidFill>
                <a:latin typeface="Segoe UI"/>
                <a:ea typeface="Segoe UI"/>
                <a:cs typeface="Segoe UI"/>
              </a:rPr>
              <a:t>Pago y devolución reales.</a:t>
            </a:r>
          </a:p>
          <a:p xmlns:a="http://schemas.openxmlformats.org/drawingml/2006/main">
            <a:pPr marL="241300" indent="-114300">
              <a:spcAft>
                <a:spcPts val="600"/>
              </a:spcAft>
              <a:buChar char="•"/>
              <a:defRPr sz="1425">
                <a:solidFill>
                  <a:srgbClr val="22283A"/>
                </a:solidFill>
                <a:latin typeface="Segoe UI"/>
                <a:ea typeface="Segoe UI"/>
                <a:cs typeface="Segoe UI"/>
              </a:defRPr>
            </a:pPr>
            <a:r>
              <a:rPr sz="1425">
                <a:solidFill>
                  <a:srgbClr val="22283A"/>
                </a:solidFill>
                <a:latin typeface="Segoe UI"/>
                <a:ea typeface="Segoe UI"/>
                <a:cs typeface="Segoe UI"/>
              </a:rPr>
              <a:t>Emisión y lectura productiva de QR.</a:t>
            </a:r>
          </a:p>
          <a:p xmlns:a="http://schemas.openxmlformats.org/drawingml/2006/main">
            <a:pPr marL="241300" indent="-114300">
              <a:spcAft>
                <a:spcPts val="600"/>
              </a:spcAft>
              <a:buChar char="•"/>
              <a:defRPr sz="1425">
                <a:solidFill>
                  <a:srgbClr val="22283A"/>
                </a:solidFill>
                <a:latin typeface="Segoe UI"/>
                <a:ea typeface="Segoe UI"/>
                <a:cs typeface="Segoe UI"/>
              </a:defRPr>
            </a:pPr>
            <a:r>
              <a:rPr sz="1425">
                <a:solidFill>
                  <a:srgbClr val="22283A"/>
                </a:solidFill>
                <a:latin typeface="Segoe UI"/>
                <a:ea typeface="Segoe UI"/>
                <a:cs typeface="Segoe UI"/>
              </a:rPr>
              <a:t>Medición del piloto.</a:t>
            </a:r>
          </a:p>
        </p:txBody>
      </p:sp>
      <p:sp>
        <p:nvSpPr>
          <p:cNvPr id="9" name="">
            <a:extLst xmlns:a="http://schemas.openxmlformats.org/drawingml/2006/main">
              <a:ext uri="{FF2B5EF4-FFF2-40B4-BE49-F238E27FC236}">
                <a16:creationId xmlns:a16="http://schemas.microsoft.com/office/drawing/2014/main" id="{884DB625-FA8C-4E5A-9D43-A53B03AF6AEC}"/>
              </a:ext>
            </a:extLst>
          </p:cNvPr>
          <p:cNvSpPr>
            <a:spLocks xmlns:a="http://schemas.openxmlformats.org/drawingml/2006/main" noGrp="1"/>
          </p:cNvSpPr>
          <p:nvPr/>
        </p:nvSpPr>
        <p:spPr>
          <a:xfrm xmlns:a="http://schemas.openxmlformats.org/drawingml/2006/main">
            <a:off x="666750" y="6486525"/>
            <a:ext cx="10858500" cy="0"/>
          </a:xfrm>
          <a:prstGeom xmlns:a="http://schemas.openxmlformats.org/drawingml/2006/main" prst="line">
            <a:avLst/>
          </a:prstGeom>
          <a:noFill xmlns:a="http://schemas.openxmlformats.org/drawingml/2006/main"/>
          <a:ln xmlns:a="http://schemas.openxmlformats.org/drawingml/2006/main" w="9525">
            <a:solidFill>
              <a:srgbClr val="E4E7EC"/>
            </a:solidFill>
          </a:ln>
        </p:spPr>
      </p:sp>
      <p:sp>
        <p:nvSpPr>
          <p:cNvPr id="10" name="">
            <a:extLst xmlns:a="http://schemas.openxmlformats.org/drawingml/2006/main">
              <a:ext uri="{FF2B5EF4-FFF2-40B4-BE49-F238E27FC236}">
                <a16:creationId xmlns:a16="http://schemas.microsoft.com/office/drawing/2014/main" id="{19474D45-B635-43E8-82F5-A481E7A7796B}"/>
              </a:ext>
            </a:extLst>
          </p:cNvPr>
          <p:cNvSpPr>
            <a:spLocks xmlns:a="http://schemas.openxmlformats.org/drawingml/2006/main" noGrp="1"/>
          </p:cNvSpPr>
          <p:nvPr/>
        </p:nvSpPr>
        <p:spPr>
          <a:xfrm xmlns:a="http://schemas.openxmlformats.org/drawingml/2006/main">
            <a:off x="666750" y="6553200"/>
            <a:ext cx="323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0">
                <a:solidFill>
                  <a:srgbClr val="667085"/>
                </a:solidFill>
                <a:latin typeface="Segoe UI"/>
                <a:ea typeface="Segoe UI"/>
                <a:cs typeface="Segoe UI"/>
              </a:defRPr>
            </a:pPr>
            <a:r>
              <a:rPr sz="1050" b="0">
                <a:solidFill>
                  <a:srgbClr val="667085"/>
                </a:solidFill>
                <a:latin typeface="Segoe UI"/>
                <a:ea typeface="Segoe UI"/>
                <a:cs typeface="Segoe UI"/>
              </a:rPr>
              <a:t>FOX Bus - Avance 1 - Grupo 6</a:t>
            </a:r>
          </a:p>
        </p:txBody>
      </p:sp>
      <p:sp>
        <p:nvSpPr>
          <p:cNvPr id="11" name="">
            <a:extLst xmlns:a="http://schemas.openxmlformats.org/drawingml/2006/main">
              <a:ext uri="{FF2B5EF4-FFF2-40B4-BE49-F238E27FC236}">
                <a16:creationId xmlns:a16="http://schemas.microsoft.com/office/drawing/2014/main" id="{F5A8C21A-9140-4245-A094-49C58027EC00}"/>
              </a:ext>
            </a:extLst>
          </p:cNvPr>
          <p:cNvSpPr>
            <a:spLocks xmlns:a="http://schemas.openxmlformats.org/drawingml/2006/main" noGrp="1"/>
          </p:cNvSpPr>
          <p:nvPr/>
        </p:nvSpPr>
        <p:spPr>
          <a:xfrm xmlns:a="http://schemas.openxmlformats.org/drawingml/2006/main">
            <a:off x="11144250" y="65532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050" b="0">
                <a:solidFill>
                  <a:srgbClr val="667085"/>
                </a:solidFill>
                <a:latin typeface="Segoe UI"/>
                <a:ea typeface="Segoe UI"/>
                <a:cs typeface="Segoe UI"/>
              </a:defRPr>
            </a:pPr>
            <a:r>
              <a:rPr sz="1050" b="0">
                <a:solidFill>
                  <a:srgbClr val="667085"/>
                </a:solidFill>
                <a:latin typeface="Segoe UI"/>
                <a:ea typeface="Segoe UI"/>
                <a:cs typeface="Segoe UI"/>
              </a:rPr>
              <a:t>4</a:t>
            </a:r>
          </a:p>
        </p:txBody>
      </p:sp>
    </p:spTree>
    <p:extLst>
      <p:ext uri="{BB962C8B-B14F-4D97-AF65-F5344CB8AC3E}">
        <p14:creationId xmlns:p14="http://schemas.microsoft.com/office/powerpoint/2010/main" val="99054009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04BC1981-94E3-4946-AA6A-0A396A2EEC09}"/>
              </a:ext>
            </a:extLst>
          </p:cNvPr>
          <p:cNvSpPr>
            <a:spLocks xmlns:a="http://schemas.openxmlformats.org/drawingml/2006/main" noGrp="1"/>
          </p:cNvSpPr>
          <p:nvPr/>
        </p:nvSpPr>
        <p:spPr>
          <a:xfrm xmlns:a="http://schemas.openxmlformats.org/drawingml/2006/main">
            <a:off x="666750" y="400050"/>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D92375"/>
                </a:solidFill>
                <a:latin typeface="Segoe UI"/>
                <a:ea typeface="Segoe UI"/>
                <a:cs typeface="Segoe UI"/>
              </a:defRPr>
            </a:pPr>
            <a:r>
              <a:rPr sz="1350" b="1">
                <a:solidFill>
                  <a:srgbClr val="D92375"/>
                </a:solidFill>
                <a:latin typeface="Segoe UI"/>
                <a:ea typeface="Segoe UI"/>
                <a:cs typeface="Segoe UI"/>
              </a:rPr>
              <a:t>TECNOLOGÍA Y TIEMPO</a:t>
            </a:r>
          </a:p>
        </p:txBody>
      </p:sp>
      <p:sp>
        <p:nvSpPr>
          <p:cNvPr id="2" name="">
            <a:extLst xmlns:a="http://schemas.openxmlformats.org/drawingml/2006/main">
              <a:ext uri="{FF2B5EF4-FFF2-40B4-BE49-F238E27FC236}">
                <a16:creationId xmlns:a16="http://schemas.microsoft.com/office/drawing/2014/main" id="{B0D02DFB-4785-4774-8C2C-5333B8B5618F}"/>
              </a:ext>
            </a:extLst>
          </p:cNvPr>
          <p:cNvSpPr>
            <a:spLocks xmlns:a="http://schemas.openxmlformats.org/drawingml/2006/main" noGrp="1"/>
          </p:cNvSpPr>
          <p:nvPr/>
        </p:nvSpPr>
        <p:spPr>
          <a:xfrm xmlns:a="http://schemas.openxmlformats.org/drawingml/2006/main">
            <a:off x="666750" y="74295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600" b="1">
                <a:solidFill>
                  <a:srgbClr val="22283A"/>
                </a:solidFill>
                <a:latin typeface="Segoe UI"/>
                <a:ea typeface="Segoe UI"/>
                <a:cs typeface="Segoe UI"/>
              </a:defRPr>
            </a:pPr>
            <a:r>
              <a:rPr sz="3600" b="1">
                <a:solidFill>
                  <a:srgbClr val="22283A"/>
                </a:solidFill>
                <a:latin typeface="Segoe UI"/>
                <a:ea typeface="Segoe UI"/>
                <a:cs typeface="Segoe UI"/>
              </a:rPr>
              <a:t>Viabilidad técnica y plan</a:t>
            </a:r>
          </a:p>
        </p:txBody>
      </p:sp>
      <p:sp>
        <p:nvSpPr>
          <p:cNvPr id="3" name="">
            <a:extLst xmlns:a="http://schemas.openxmlformats.org/drawingml/2006/main">
              <a:ext uri="{FF2B5EF4-FFF2-40B4-BE49-F238E27FC236}">
                <a16:creationId xmlns:a16="http://schemas.microsoft.com/office/drawing/2014/main" id="{7D3C6202-13AD-41C2-A1CD-18192BC9D25B}"/>
              </a:ext>
            </a:extLst>
          </p:cNvPr>
          <p:cNvSpPr>
            <a:spLocks xmlns:a="http://schemas.openxmlformats.org/drawingml/2006/main" noGrp="1"/>
          </p:cNvSpPr>
          <p:nvPr/>
        </p:nvSpPr>
        <p:spPr>
          <a:xfrm xmlns:a="http://schemas.openxmlformats.org/drawingml/2006/main">
            <a:off x="666750" y="1600200"/>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22283A"/>
                </a:solidFill>
                <a:latin typeface="Segoe UI"/>
                <a:ea typeface="Segoe UI"/>
                <a:cs typeface="Segoe UI"/>
              </a:defRPr>
            </a:pPr>
            <a:r>
              <a:rPr sz="2325" b="1">
                <a:solidFill>
                  <a:srgbClr val="22283A"/>
                </a:solidFill>
                <a:latin typeface="Segoe UI"/>
                <a:ea typeface="Segoe UI"/>
                <a:cs typeface="Segoe UI"/>
              </a:rPr>
              <a:t>Pila disponible</a:t>
            </a:r>
          </a:p>
        </p:txBody>
      </p:sp>
      <p:sp>
        <p:nvSpPr>
          <p:cNvPr id="4" name="">
            <a:extLst xmlns:a="http://schemas.openxmlformats.org/drawingml/2006/main">
              <a:ext uri="{FF2B5EF4-FFF2-40B4-BE49-F238E27FC236}">
                <a16:creationId xmlns:a16="http://schemas.microsoft.com/office/drawing/2014/main" id="{F0ECEF07-DCF8-4154-8F0D-84E876B32E5C}"/>
              </a:ext>
            </a:extLst>
          </p:cNvPr>
          <p:cNvSpPr>
            <a:spLocks xmlns:a="http://schemas.openxmlformats.org/drawingml/2006/main" noGrp="1"/>
          </p:cNvSpPr>
          <p:nvPr/>
        </p:nvSpPr>
        <p:spPr>
          <a:xfrm xmlns:a="http://schemas.openxmlformats.org/drawingml/2006/main">
            <a:off x="685800" y="2095500"/>
            <a:ext cx="417195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41300" indent="-114300">
              <a:spcAft>
                <a:spcPts val="900"/>
              </a:spcAft>
              <a:buChar char="•"/>
              <a:defRPr sz="1575">
                <a:solidFill>
                  <a:srgbClr val="22283A"/>
                </a:solidFill>
                <a:latin typeface="Segoe UI"/>
                <a:ea typeface="Segoe UI"/>
                <a:cs typeface="Segoe UI"/>
              </a:defRPr>
            </a:pPr>
            <a:r>
              <a:rPr sz="1575">
                <a:solidFill>
                  <a:srgbClr val="22283A"/>
                </a:solidFill>
                <a:latin typeface="Segoe UI"/>
                <a:ea typeface="Segoe UI"/>
                <a:cs typeface="Segoe UI"/>
              </a:rPr>
              <a:t>React y Vite para la interfaz modular.</a:t>
            </a:r>
          </a:p>
          <a:p xmlns:a="http://schemas.openxmlformats.org/drawingml/2006/main">
            <a:pPr marL="241300" indent="-114300">
              <a:spcAft>
                <a:spcPts val="900"/>
              </a:spcAft>
              <a:buChar char="•"/>
              <a:defRPr sz="1575">
                <a:solidFill>
                  <a:srgbClr val="22283A"/>
                </a:solidFill>
                <a:latin typeface="Segoe UI"/>
                <a:ea typeface="Segoe UI"/>
                <a:cs typeface="Segoe UI"/>
              </a:defRPr>
            </a:pPr>
            <a:r>
              <a:rPr sz="1575">
                <a:solidFill>
                  <a:srgbClr val="22283A"/>
                </a:solidFill>
                <a:latin typeface="Segoe UI"/>
                <a:ea typeface="Segoe UI"/>
                <a:cs typeface="Segoe UI"/>
              </a:rPr>
              <a:t>Tailwind, Router y Zustand para el recorrido.</a:t>
            </a:r>
          </a:p>
          <a:p xmlns:a="http://schemas.openxmlformats.org/drawingml/2006/main">
            <a:pPr marL="241300" indent="-114300">
              <a:spcAft>
                <a:spcPts val="900"/>
              </a:spcAft>
              <a:buChar char="•"/>
              <a:defRPr sz="1575">
                <a:solidFill>
                  <a:srgbClr val="22283A"/>
                </a:solidFill>
                <a:latin typeface="Segoe UI"/>
                <a:ea typeface="Segoe UI"/>
                <a:cs typeface="Segoe UI"/>
              </a:defRPr>
            </a:pPr>
            <a:r>
              <a:rPr sz="1575">
                <a:solidFill>
                  <a:srgbClr val="22283A"/>
                </a:solidFill>
                <a:latin typeface="Segoe UI"/>
                <a:ea typeface="Segoe UI"/>
                <a:cs typeface="Segoe UI"/>
              </a:rPr>
              <a:t>Axios y Recharts preparados para API y métricas.</a:t>
            </a:r>
          </a:p>
          <a:p xmlns:a="http://schemas.openxmlformats.org/drawingml/2006/main">
            <a:pPr marL="241300" indent="-114300">
              <a:spcAft>
                <a:spcPts val="900"/>
              </a:spcAft>
              <a:buChar char="•"/>
              <a:defRPr sz="1575">
                <a:solidFill>
                  <a:srgbClr val="22283A"/>
                </a:solidFill>
                <a:latin typeface="Segoe UI"/>
                <a:ea typeface="Segoe UI"/>
                <a:cs typeface="Segoe UI"/>
              </a:defRPr>
            </a:pPr>
            <a:r>
              <a:rPr sz="1575">
                <a:solidFill>
                  <a:srgbClr val="22283A"/>
                </a:solidFill>
                <a:latin typeface="Segoe UI"/>
                <a:ea typeface="Segoe UI"/>
                <a:cs typeface="Segoe UI"/>
              </a:rPr>
              <a:t>GitHub Actions valida lint, pruebas y build.</a:t>
            </a:r>
          </a:p>
        </p:txBody>
      </p:sp>
      <p:sp>
        <p:nvSpPr>
          <p:cNvPr id="5" name="">
            <a:extLst xmlns:a="http://schemas.openxmlformats.org/drawingml/2006/main">
              <a:ext uri="{FF2B5EF4-FFF2-40B4-BE49-F238E27FC236}">
                <a16:creationId xmlns:a16="http://schemas.microsoft.com/office/drawing/2014/main" id="{A82018D4-27D4-4561-B815-76A228FB06DF}"/>
              </a:ext>
            </a:extLst>
          </p:cNvPr>
          <p:cNvSpPr>
            <a:spLocks xmlns:a="http://schemas.openxmlformats.org/drawingml/2006/main" noGrp="1"/>
          </p:cNvSpPr>
          <p:nvPr/>
        </p:nvSpPr>
        <p:spPr>
          <a:xfrm xmlns:a="http://schemas.openxmlformats.org/drawingml/2006/main">
            <a:off x="666750" y="424815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159C74"/>
                </a:solidFill>
                <a:latin typeface="Segoe UI"/>
                <a:ea typeface="Segoe UI"/>
                <a:cs typeface="Segoe UI"/>
              </a:defRPr>
            </a:pPr>
            <a:r>
              <a:rPr sz="2025" b="1">
                <a:solidFill>
                  <a:srgbClr val="159C74"/>
                </a:solidFill>
                <a:latin typeface="Segoe UI"/>
                <a:ea typeface="Segoe UI"/>
                <a:cs typeface="Segoe UI"/>
              </a:rPr>
              <a:t>Evaluación</a:t>
            </a:r>
          </a:p>
        </p:txBody>
      </p:sp>
      <p:sp>
        <p:nvSpPr>
          <p:cNvPr id="6" name="">
            <a:extLst xmlns:a="http://schemas.openxmlformats.org/drawingml/2006/main">
              <a:ext uri="{FF2B5EF4-FFF2-40B4-BE49-F238E27FC236}">
                <a16:creationId xmlns:a16="http://schemas.microsoft.com/office/drawing/2014/main" id="{F2841753-D48D-4E54-A986-80BF22FDFFC1}"/>
              </a:ext>
            </a:extLst>
          </p:cNvPr>
          <p:cNvSpPr>
            <a:spLocks xmlns:a="http://schemas.openxmlformats.org/drawingml/2006/main" noGrp="1"/>
          </p:cNvSpPr>
          <p:nvPr/>
        </p:nvSpPr>
        <p:spPr>
          <a:xfrm xmlns:a="http://schemas.openxmlformats.org/drawingml/2006/main">
            <a:off x="666750" y="4667250"/>
            <a:ext cx="4191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a:solidFill>
                  <a:srgbClr val="22283A"/>
                </a:solidFill>
                <a:latin typeface="Segoe UI"/>
                <a:ea typeface="Segoe UI"/>
                <a:cs typeface="Segoe UI"/>
              </a:defRPr>
            </a:pPr>
            <a:r>
              <a:rPr sz="1650" b="0">
                <a:solidFill>
                  <a:srgbClr val="22283A"/>
                </a:solidFill>
                <a:latin typeface="Segoe UI"/>
                <a:ea typeface="Segoe UI"/>
                <a:cs typeface="Segoe UI"/>
              </a:rPr>
              <a:t>El prototipo es viable con los conocimientos y recursos actuales. La operación real depende de integraciones externas y reglas de negocio todavía por definir.</a:t>
            </a:r>
          </a:p>
        </p:txBody>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0ba12107f7aa488e"/>
          <a:srcRect xmlns:a="http://schemas.openxmlformats.org/drawingml/2006/main" l="0" t="29777" r="0" b="29777"/>
          <a:stretch xmlns:a="http://schemas.openxmlformats.org/drawingml/2006/main">
            <a:fillRect l="0" t="0" r="0" b="0"/>
          </a:stretch>
        </p:blipFill>
        <p:spPr>
          <a:xfrm xmlns:a="http://schemas.openxmlformats.org/drawingml/2006/main">
            <a:off x="5334000" y="1581150"/>
            <a:ext cx="6191250" cy="3238500"/>
          </a:xfrm>
          <a:prstGeom xmlns:a="http://schemas.openxmlformats.org/drawingml/2006/main" prst="roundRect">
            <a:avLst>
              <a:gd name="adj" fmla="val 3529"/>
            </a:avLst>
          </a:prstGeom>
        </p:spPr>
      </p:pic>
      <p:sp>
        <p:nvSpPr>
          <p:cNvPr id="8" name="">
            <a:extLst xmlns:a="http://schemas.openxmlformats.org/drawingml/2006/main">
              <a:ext uri="{FF2B5EF4-FFF2-40B4-BE49-F238E27FC236}">
                <a16:creationId xmlns:a16="http://schemas.microsoft.com/office/drawing/2014/main" id="{360F1969-AD32-4CE3-8BBC-9F696D66C295}"/>
              </a:ext>
            </a:extLst>
          </p:cNvPr>
          <p:cNvSpPr>
            <a:spLocks xmlns:a="http://schemas.openxmlformats.org/drawingml/2006/main" noGrp="1"/>
          </p:cNvSpPr>
          <p:nvPr/>
        </p:nvSpPr>
        <p:spPr>
          <a:xfrm xmlns:a="http://schemas.openxmlformats.org/drawingml/2006/main">
            <a:off x="5429250" y="5219700"/>
            <a:ext cx="400050" cy="400050"/>
          </a:xfrm>
          <a:prstGeom xmlns:a="http://schemas.openxmlformats.org/drawingml/2006/main" prst="roundRect">
            <a:avLst>
              <a:gd name="adj" fmla="val 19048"/>
            </a:avLst>
          </a:prstGeom>
          <a:solidFill xmlns:a="http://schemas.openxmlformats.org/drawingml/2006/main">
            <a:srgbClr val="F53D91"/>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D89E635-1093-4BCE-8023-5ED54B2655A8}"/>
              </a:ext>
            </a:extLst>
          </p:cNvPr>
          <p:cNvSpPr>
            <a:spLocks xmlns:a="http://schemas.openxmlformats.org/drawingml/2006/main" noGrp="1"/>
          </p:cNvSpPr>
          <p:nvPr/>
        </p:nvSpPr>
        <p:spPr>
          <a:xfrm xmlns:a="http://schemas.openxmlformats.org/drawingml/2006/main">
            <a:off x="5429250" y="531495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FFFFFF"/>
                </a:solidFill>
                <a:latin typeface="Segoe UI"/>
                <a:ea typeface="Segoe UI"/>
                <a:cs typeface="Segoe UI"/>
              </a:defRPr>
            </a:pPr>
            <a:r>
              <a:rPr sz="1350" b="1">
                <a:solidFill>
                  <a:srgbClr val="FFFFFF"/>
                </a:solidFill>
                <a:latin typeface="Segoe UI"/>
                <a:ea typeface="Segoe UI"/>
                <a:cs typeface="Segoe UI"/>
              </a:rPr>
              <a:t>1</a:t>
            </a:r>
          </a:p>
        </p:txBody>
      </p:sp>
      <p:sp>
        <p:nvSpPr>
          <p:cNvPr id="10" name="">
            <a:extLst xmlns:a="http://schemas.openxmlformats.org/drawingml/2006/main">
              <a:ext uri="{FF2B5EF4-FFF2-40B4-BE49-F238E27FC236}">
                <a16:creationId xmlns:a16="http://schemas.microsoft.com/office/drawing/2014/main" id="{82CF6BE1-33F0-441F-AD3D-98EF2403BA18}"/>
              </a:ext>
            </a:extLst>
          </p:cNvPr>
          <p:cNvSpPr>
            <a:spLocks xmlns:a="http://schemas.openxmlformats.org/drawingml/2006/main" noGrp="1"/>
          </p:cNvSpPr>
          <p:nvPr/>
        </p:nvSpPr>
        <p:spPr>
          <a:xfrm xmlns:a="http://schemas.openxmlformats.org/drawingml/2006/main">
            <a:off x="5848350" y="5419725"/>
            <a:ext cx="514350" cy="0"/>
          </a:xfrm>
          <a:prstGeom xmlns:a="http://schemas.openxmlformats.org/drawingml/2006/main" prst="line">
            <a:avLst/>
          </a:prstGeom>
          <a:noFill xmlns:a="http://schemas.openxmlformats.org/drawingml/2006/main"/>
          <a:ln xmlns:a="http://schemas.openxmlformats.org/drawingml/2006/main" w="19050">
            <a:solidFill>
              <a:srgbClr val="E4E7EC"/>
            </a:solidFill>
          </a:ln>
        </p:spPr>
      </p:sp>
      <p:sp>
        <p:nvSpPr>
          <p:cNvPr id="11" name="">
            <a:extLst xmlns:a="http://schemas.openxmlformats.org/drawingml/2006/main">
              <a:ext uri="{FF2B5EF4-FFF2-40B4-BE49-F238E27FC236}">
                <a16:creationId xmlns:a16="http://schemas.microsoft.com/office/drawing/2014/main" id="{E31A7417-D7E0-4C2C-8CE9-B5EA8D45AF81}"/>
              </a:ext>
            </a:extLst>
          </p:cNvPr>
          <p:cNvSpPr>
            <a:spLocks xmlns:a="http://schemas.openxmlformats.org/drawingml/2006/main" noGrp="1"/>
          </p:cNvSpPr>
          <p:nvPr/>
        </p:nvSpPr>
        <p:spPr>
          <a:xfrm xmlns:a="http://schemas.openxmlformats.org/drawingml/2006/main">
            <a:off x="5191125" y="5743575"/>
            <a:ext cx="876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667085"/>
                </a:solidFill>
                <a:latin typeface="Segoe UI"/>
                <a:ea typeface="Segoe UI"/>
                <a:cs typeface="Segoe UI"/>
              </a:defRPr>
            </a:pPr>
            <a:r>
              <a:rPr sz="1125" b="0">
                <a:solidFill>
                  <a:srgbClr val="667085"/>
                </a:solidFill>
                <a:latin typeface="Segoe UI"/>
                <a:ea typeface="Segoe UI"/>
                <a:cs typeface="Segoe UI"/>
              </a:rPr>
              <a:t>Validar</a:t>
            </a:r>
          </a:p>
        </p:txBody>
      </p:sp>
      <p:sp>
        <p:nvSpPr>
          <p:cNvPr id="12" name="">
            <a:extLst xmlns:a="http://schemas.openxmlformats.org/drawingml/2006/main">
              <a:ext uri="{FF2B5EF4-FFF2-40B4-BE49-F238E27FC236}">
                <a16:creationId xmlns:a16="http://schemas.microsoft.com/office/drawing/2014/main" id="{597632DC-1846-4F5C-8E0C-3191209B31B3}"/>
              </a:ext>
            </a:extLst>
          </p:cNvPr>
          <p:cNvSpPr>
            <a:spLocks xmlns:a="http://schemas.openxmlformats.org/drawingml/2006/main" noGrp="1"/>
          </p:cNvSpPr>
          <p:nvPr/>
        </p:nvSpPr>
        <p:spPr>
          <a:xfrm xmlns:a="http://schemas.openxmlformats.org/drawingml/2006/main">
            <a:off x="6400800" y="5219700"/>
            <a:ext cx="400050" cy="400050"/>
          </a:xfrm>
          <a:prstGeom xmlns:a="http://schemas.openxmlformats.org/drawingml/2006/main" prst="roundRect">
            <a:avLst>
              <a:gd name="adj" fmla="val 19048"/>
            </a:avLst>
          </a:prstGeom>
          <a:solidFill xmlns:a="http://schemas.openxmlformats.org/drawingml/2006/main">
            <a:srgbClr val="F53D91"/>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DD133AF-0893-4E4B-BF78-63FA91CAACFA}"/>
              </a:ext>
            </a:extLst>
          </p:cNvPr>
          <p:cNvSpPr>
            <a:spLocks xmlns:a="http://schemas.openxmlformats.org/drawingml/2006/main" noGrp="1"/>
          </p:cNvSpPr>
          <p:nvPr/>
        </p:nvSpPr>
        <p:spPr>
          <a:xfrm xmlns:a="http://schemas.openxmlformats.org/drawingml/2006/main">
            <a:off x="6400800" y="531495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FFFFFF"/>
                </a:solidFill>
                <a:latin typeface="Segoe UI"/>
                <a:ea typeface="Segoe UI"/>
                <a:cs typeface="Segoe UI"/>
              </a:defRPr>
            </a:pPr>
            <a:r>
              <a:rPr sz="1350" b="1">
                <a:solidFill>
                  <a:srgbClr val="FFFFFF"/>
                </a:solidFill>
                <a:latin typeface="Segoe UI"/>
                <a:ea typeface="Segoe UI"/>
                <a:cs typeface="Segoe UI"/>
              </a:rPr>
              <a:t>2</a:t>
            </a:r>
          </a:p>
        </p:txBody>
      </p:sp>
      <p:sp>
        <p:nvSpPr>
          <p:cNvPr id="14" name="">
            <a:extLst xmlns:a="http://schemas.openxmlformats.org/drawingml/2006/main">
              <a:ext uri="{FF2B5EF4-FFF2-40B4-BE49-F238E27FC236}">
                <a16:creationId xmlns:a16="http://schemas.microsoft.com/office/drawing/2014/main" id="{DF0EB67F-CB82-47AE-923B-226565FA431C}"/>
              </a:ext>
            </a:extLst>
          </p:cNvPr>
          <p:cNvSpPr>
            <a:spLocks xmlns:a="http://schemas.openxmlformats.org/drawingml/2006/main" noGrp="1"/>
          </p:cNvSpPr>
          <p:nvPr/>
        </p:nvSpPr>
        <p:spPr>
          <a:xfrm xmlns:a="http://schemas.openxmlformats.org/drawingml/2006/main">
            <a:off x="6819900" y="5419725"/>
            <a:ext cx="514350" cy="0"/>
          </a:xfrm>
          <a:prstGeom xmlns:a="http://schemas.openxmlformats.org/drawingml/2006/main" prst="line">
            <a:avLst/>
          </a:prstGeom>
          <a:noFill xmlns:a="http://schemas.openxmlformats.org/drawingml/2006/main"/>
          <a:ln xmlns:a="http://schemas.openxmlformats.org/drawingml/2006/main" w="19050">
            <a:solidFill>
              <a:srgbClr val="E4E7EC"/>
            </a:solidFill>
          </a:ln>
        </p:spPr>
      </p:sp>
      <p:sp>
        <p:nvSpPr>
          <p:cNvPr id="15" name="">
            <a:extLst xmlns:a="http://schemas.openxmlformats.org/drawingml/2006/main">
              <a:ext uri="{FF2B5EF4-FFF2-40B4-BE49-F238E27FC236}">
                <a16:creationId xmlns:a16="http://schemas.microsoft.com/office/drawing/2014/main" id="{06258531-2D61-4AA6-BE71-A0702CAB34EE}"/>
              </a:ext>
            </a:extLst>
          </p:cNvPr>
          <p:cNvSpPr>
            <a:spLocks xmlns:a="http://schemas.openxmlformats.org/drawingml/2006/main" noGrp="1"/>
          </p:cNvSpPr>
          <p:nvPr/>
        </p:nvSpPr>
        <p:spPr>
          <a:xfrm xmlns:a="http://schemas.openxmlformats.org/drawingml/2006/main">
            <a:off x="6162675" y="5743575"/>
            <a:ext cx="876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667085"/>
                </a:solidFill>
                <a:latin typeface="Segoe UI"/>
                <a:ea typeface="Segoe UI"/>
                <a:cs typeface="Segoe UI"/>
              </a:defRPr>
            </a:pPr>
            <a:r>
              <a:rPr sz="1125" b="0">
                <a:solidFill>
                  <a:srgbClr val="667085"/>
                </a:solidFill>
                <a:latin typeface="Segoe UI"/>
                <a:ea typeface="Segoe UI"/>
                <a:cs typeface="Segoe UI"/>
              </a:rPr>
              <a:t>Diseñar</a:t>
            </a:r>
          </a:p>
        </p:txBody>
      </p:sp>
      <p:sp>
        <p:nvSpPr>
          <p:cNvPr id="16" name="">
            <a:extLst xmlns:a="http://schemas.openxmlformats.org/drawingml/2006/main">
              <a:ext uri="{FF2B5EF4-FFF2-40B4-BE49-F238E27FC236}">
                <a16:creationId xmlns:a16="http://schemas.microsoft.com/office/drawing/2014/main" id="{C9527F4B-C37B-4088-9FBA-7DA568CBC8BC}"/>
              </a:ext>
            </a:extLst>
          </p:cNvPr>
          <p:cNvSpPr>
            <a:spLocks xmlns:a="http://schemas.openxmlformats.org/drawingml/2006/main" noGrp="1"/>
          </p:cNvSpPr>
          <p:nvPr/>
        </p:nvSpPr>
        <p:spPr>
          <a:xfrm xmlns:a="http://schemas.openxmlformats.org/drawingml/2006/main">
            <a:off x="7372350" y="5219700"/>
            <a:ext cx="400050" cy="400050"/>
          </a:xfrm>
          <a:prstGeom xmlns:a="http://schemas.openxmlformats.org/drawingml/2006/main" prst="roundRect">
            <a:avLst>
              <a:gd name="adj" fmla="val 19048"/>
            </a:avLst>
          </a:prstGeom>
          <a:solidFill xmlns:a="http://schemas.openxmlformats.org/drawingml/2006/main">
            <a:srgbClr val="F53D91"/>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8079D55-1A1B-494F-BC67-954BC2CED3C0}"/>
              </a:ext>
            </a:extLst>
          </p:cNvPr>
          <p:cNvSpPr>
            <a:spLocks xmlns:a="http://schemas.openxmlformats.org/drawingml/2006/main" noGrp="1"/>
          </p:cNvSpPr>
          <p:nvPr/>
        </p:nvSpPr>
        <p:spPr>
          <a:xfrm xmlns:a="http://schemas.openxmlformats.org/drawingml/2006/main">
            <a:off x="7372350" y="531495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FFFFFF"/>
                </a:solidFill>
                <a:latin typeface="Segoe UI"/>
                <a:ea typeface="Segoe UI"/>
                <a:cs typeface="Segoe UI"/>
              </a:defRPr>
            </a:pPr>
            <a:r>
              <a:rPr sz="1350" b="1">
                <a:solidFill>
                  <a:srgbClr val="FFFFFF"/>
                </a:solidFill>
                <a:latin typeface="Segoe UI"/>
                <a:ea typeface="Segoe UI"/>
                <a:cs typeface="Segoe UI"/>
              </a:rPr>
              <a:t>3</a:t>
            </a:r>
          </a:p>
        </p:txBody>
      </p:sp>
      <p:sp>
        <p:nvSpPr>
          <p:cNvPr id="18" name="">
            <a:extLst xmlns:a="http://schemas.openxmlformats.org/drawingml/2006/main">
              <a:ext uri="{FF2B5EF4-FFF2-40B4-BE49-F238E27FC236}">
                <a16:creationId xmlns:a16="http://schemas.microsoft.com/office/drawing/2014/main" id="{2A03550F-DEC1-4B9B-846E-595A5DA218CB}"/>
              </a:ext>
            </a:extLst>
          </p:cNvPr>
          <p:cNvSpPr>
            <a:spLocks xmlns:a="http://schemas.openxmlformats.org/drawingml/2006/main" noGrp="1"/>
          </p:cNvSpPr>
          <p:nvPr/>
        </p:nvSpPr>
        <p:spPr>
          <a:xfrm xmlns:a="http://schemas.openxmlformats.org/drawingml/2006/main">
            <a:off x="7791450" y="5419725"/>
            <a:ext cx="514350" cy="0"/>
          </a:xfrm>
          <a:prstGeom xmlns:a="http://schemas.openxmlformats.org/drawingml/2006/main" prst="line">
            <a:avLst/>
          </a:prstGeom>
          <a:noFill xmlns:a="http://schemas.openxmlformats.org/drawingml/2006/main"/>
          <a:ln xmlns:a="http://schemas.openxmlformats.org/drawingml/2006/main" w="19050">
            <a:solidFill>
              <a:srgbClr val="E4E7EC"/>
            </a:solidFill>
          </a:ln>
        </p:spPr>
      </p:sp>
      <p:sp>
        <p:nvSpPr>
          <p:cNvPr id="19" name="">
            <a:extLst xmlns:a="http://schemas.openxmlformats.org/drawingml/2006/main">
              <a:ext uri="{FF2B5EF4-FFF2-40B4-BE49-F238E27FC236}">
                <a16:creationId xmlns:a16="http://schemas.microsoft.com/office/drawing/2014/main" id="{CC64058B-790F-48CF-BF4C-5493E2D6D628}"/>
              </a:ext>
            </a:extLst>
          </p:cNvPr>
          <p:cNvSpPr>
            <a:spLocks xmlns:a="http://schemas.openxmlformats.org/drawingml/2006/main" noGrp="1"/>
          </p:cNvSpPr>
          <p:nvPr/>
        </p:nvSpPr>
        <p:spPr>
          <a:xfrm xmlns:a="http://schemas.openxmlformats.org/drawingml/2006/main">
            <a:off x="7134225" y="5743575"/>
            <a:ext cx="876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667085"/>
                </a:solidFill>
                <a:latin typeface="Segoe UI"/>
                <a:ea typeface="Segoe UI"/>
                <a:cs typeface="Segoe UI"/>
              </a:defRPr>
            </a:pPr>
            <a:r>
              <a:rPr sz="1125" b="0">
                <a:solidFill>
                  <a:srgbClr val="667085"/>
                </a:solidFill>
                <a:latin typeface="Segoe UI"/>
                <a:ea typeface="Segoe UI"/>
                <a:cs typeface="Segoe UI"/>
              </a:rPr>
              <a:t>Consolidar</a:t>
            </a:r>
          </a:p>
        </p:txBody>
      </p:sp>
      <p:sp>
        <p:nvSpPr>
          <p:cNvPr id="20" name="">
            <a:extLst xmlns:a="http://schemas.openxmlformats.org/drawingml/2006/main">
              <a:ext uri="{FF2B5EF4-FFF2-40B4-BE49-F238E27FC236}">
                <a16:creationId xmlns:a16="http://schemas.microsoft.com/office/drawing/2014/main" id="{CC2AC7D1-A260-4377-BC70-FFD9AA4C3513}"/>
              </a:ext>
            </a:extLst>
          </p:cNvPr>
          <p:cNvSpPr>
            <a:spLocks xmlns:a="http://schemas.openxmlformats.org/drawingml/2006/main" noGrp="1"/>
          </p:cNvSpPr>
          <p:nvPr/>
        </p:nvSpPr>
        <p:spPr>
          <a:xfrm xmlns:a="http://schemas.openxmlformats.org/drawingml/2006/main">
            <a:off x="8343900" y="5219700"/>
            <a:ext cx="400050" cy="400050"/>
          </a:xfrm>
          <a:prstGeom xmlns:a="http://schemas.openxmlformats.org/drawingml/2006/main" prst="roundRect">
            <a:avLst>
              <a:gd name="adj" fmla="val 19048"/>
            </a:avLst>
          </a:prstGeom>
          <a:solidFill xmlns:a="http://schemas.openxmlformats.org/drawingml/2006/main">
            <a:srgbClr val="7C3AED"/>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B3676EDD-08E7-4CAB-9F19-FB5D307CC156}"/>
              </a:ext>
            </a:extLst>
          </p:cNvPr>
          <p:cNvSpPr>
            <a:spLocks xmlns:a="http://schemas.openxmlformats.org/drawingml/2006/main" noGrp="1"/>
          </p:cNvSpPr>
          <p:nvPr/>
        </p:nvSpPr>
        <p:spPr>
          <a:xfrm xmlns:a="http://schemas.openxmlformats.org/drawingml/2006/main">
            <a:off x="8343900" y="531495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FFFFFF"/>
                </a:solidFill>
                <a:latin typeface="Segoe UI"/>
                <a:ea typeface="Segoe UI"/>
                <a:cs typeface="Segoe UI"/>
              </a:defRPr>
            </a:pPr>
            <a:r>
              <a:rPr sz="1350" b="1">
                <a:solidFill>
                  <a:srgbClr val="FFFFFF"/>
                </a:solidFill>
                <a:latin typeface="Segoe UI"/>
                <a:ea typeface="Segoe UI"/>
                <a:cs typeface="Segoe UI"/>
              </a:rPr>
              <a:t>4</a:t>
            </a:r>
          </a:p>
        </p:txBody>
      </p:sp>
      <p:sp>
        <p:nvSpPr>
          <p:cNvPr id="22" name="">
            <a:extLst xmlns:a="http://schemas.openxmlformats.org/drawingml/2006/main">
              <a:ext uri="{FF2B5EF4-FFF2-40B4-BE49-F238E27FC236}">
                <a16:creationId xmlns:a16="http://schemas.microsoft.com/office/drawing/2014/main" id="{E13491D1-8F8B-4B20-A3AF-99B77650B505}"/>
              </a:ext>
            </a:extLst>
          </p:cNvPr>
          <p:cNvSpPr>
            <a:spLocks xmlns:a="http://schemas.openxmlformats.org/drawingml/2006/main" noGrp="1"/>
          </p:cNvSpPr>
          <p:nvPr/>
        </p:nvSpPr>
        <p:spPr>
          <a:xfrm xmlns:a="http://schemas.openxmlformats.org/drawingml/2006/main">
            <a:off x="8763000" y="5419725"/>
            <a:ext cx="514350" cy="0"/>
          </a:xfrm>
          <a:prstGeom xmlns:a="http://schemas.openxmlformats.org/drawingml/2006/main" prst="line">
            <a:avLst/>
          </a:prstGeom>
          <a:noFill xmlns:a="http://schemas.openxmlformats.org/drawingml/2006/main"/>
          <a:ln xmlns:a="http://schemas.openxmlformats.org/drawingml/2006/main" w="19050">
            <a:solidFill>
              <a:srgbClr val="E4E7EC"/>
            </a:solidFill>
          </a:ln>
        </p:spPr>
      </p:sp>
      <p:sp>
        <p:nvSpPr>
          <p:cNvPr id="23" name="">
            <a:extLst xmlns:a="http://schemas.openxmlformats.org/drawingml/2006/main">
              <a:ext uri="{FF2B5EF4-FFF2-40B4-BE49-F238E27FC236}">
                <a16:creationId xmlns:a16="http://schemas.microsoft.com/office/drawing/2014/main" id="{75F61CF8-D2D4-47D4-B609-B06D2F0D668F}"/>
              </a:ext>
            </a:extLst>
          </p:cNvPr>
          <p:cNvSpPr>
            <a:spLocks xmlns:a="http://schemas.openxmlformats.org/drawingml/2006/main" noGrp="1"/>
          </p:cNvSpPr>
          <p:nvPr/>
        </p:nvSpPr>
        <p:spPr>
          <a:xfrm xmlns:a="http://schemas.openxmlformats.org/drawingml/2006/main">
            <a:off x="8105775" y="5743575"/>
            <a:ext cx="876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667085"/>
                </a:solidFill>
                <a:latin typeface="Segoe UI"/>
                <a:ea typeface="Segoe UI"/>
                <a:cs typeface="Segoe UI"/>
              </a:defRPr>
            </a:pPr>
            <a:r>
              <a:rPr sz="1125" b="0">
                <a:solidFill>
                  <a:srgbClr val="667085"/>
                </a:solidFill>
                <a:latin typeface="Segoe UI"/>
                <a:ea typeface="Segoe UI"/>
                <a:cs typeface="Segoe UI"/>
              </a:rPr>
              <a:t>API mínima</a:t>
            </a:r>
          </a:p>
        </p:txBody>
      </p:sp>
      <p:sp>
        <p:nvSpPr>
          <p:cNvPr id="24" name="">
            <a:extLst xmlns:a="http://schemas.openxmlformats.org/drawingml/2006/main">
              <a:ext uri="{FF2B5EF4-FFF2-40B4-BE49-F238E27FC236}">
                <a16:creationId xmlns:a16="http://schemas.microsoft.com/office/drawing/2014/main" id="{D5CBC620-A8E7-4711-8097-A94EF7C3D87E}"/>
              </a:ext>
            </a:extLst>
          </p:cNvPr>
          <p:cNvSpPr>
            <a:spLocks xmlns:a="http://schemas.openxmlformats.org/drawingml/2006/main" noGrp="1"/>
          </p:cNvSpPr>
          <p:nvPr/>
        </p:nvSpPr>
        <p:spPr>
          <a:xfrm xmlns:a="http://schemas.openxmlformats.org/drawingml/2006/main">
            <a:off x="9315450" y="5219700"/>
            <a:ext cx="400050" cy="400050"/>
          </a:xfrm>
          <a:prstGeom xmlns:a="http://schemas.openxmlformats.org/drawingml/2006/main" prst="roundRect">
            <a:avLst>
              <a:gd name="adj" fmla="val 19048"/>
            </a:avLst>
          </a:prstGeom>
          <a:solidFill xmlns:a="http://schemas.openxmlformats.org/drawingml/2006/main">
            <a:srgbClr val="7C3AED"/>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094B1712-2128-4F49-A187-09A4A5C299EF}"/>
              </a:ext>
            </a:extLst>
          </p:cNvPr>
          <p:cNvSpPr>
            <a:spLocks xmlns:a="http://schemas.openxmlformats.org/drawingml/2006/main" noGrp="1"/>
          </p:cNvSpPr>
          <p:nvPr/>
        </p:nvSpPr>
        <p:spPr>
          <a:xfrm xmlns:a="http://schemas.openxmlformats.org/drawingml/2006/main">
            <a:off x="9315450" y="531495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FFFFFF"/>
                </a:solidFill>
                <a:latin typeface="Segoe UI"/>
                <a:ea typeface="Segoe UI"/>
                <a:cs typeface="Segoe UI"/>
              </a:defRPr>
            </a:pPr>
            <a:r>
              <a:rPr sz="1350" b="1">
                <a:solidFill>
                  <a:srgbClr val="FFFFFF"/>
                </a:solidFill>
                <a:latin typeface="Segoe UI"/>
                <a:ea typeface="Segoe UI"/>
                <a:cs typeface="Segoe UI"/>
              </a:rPr>
              <a:t>5</a:t>
            </a:r>
          </a:p>
        </p:txBody>
      </p:sp>
      <p:sp>
        <p:nvSpPr>
          <p:cNvPr id="26" name="">
            <a:extLst xmlns:a="http://schemas.openxmlformats.org/drawingml/2006/main">
              <a:ext uri="{FF2B5EF4-FFF2-40B4-BE49-F238E27FC236}">
                <a16:creationId xmlns:a16="http://schemas.microsoft.com/office/drawing/2014/main" id="{993D48F2-8006-4455-AA07-1A35F1794973}"/>
              </a:ext>
            </a:extLst>
          </p:cNvPr>
          <p:cNvSpPr>
            <a:spLocks xmlns:a="http://schemas.openxmlformats.org/drawingml/2006/main" noGrp="1"/>
          </p:cNvSpPr>
          <p:nvPr/>
        </p:nvSpPr>
        <p:spPr>
          <a:xfrm xmlns:a="http://schemas.openxmlformats.org/drawingml/2006/main">
            <a:off x="9734550" y="5419725"/>
            <a:ext cx="514350" cy="0"/>
          </a:xfrm>
          <a:prstGeom xmlns:a="http://schemas.openxmlformats.org/drawingml/2006/main" prst="line">
            <a:avLst/>
          </a:prstGeom>
          <a:noFill xmlns:a="http://schemas.openxmlformats.org/drawingml/2006/main"/>
          <a:ln xmlns:a="http://schemas.openxmlformats.org/drawingml/2006/main" w="19050">
            <a:solidFill>
              <a:srgbClr val="E4E7EC"/>
            </a:solidFill>
          </a:ln>
        </p:spPr>
      </p:sp>
      <p:sp>
        <p:nvSpPr>
          <p:cNvPr id="27" name="">
            <a:extLst xmlns:a="http://schemas.openxmlformats.org/drawingml/2006/main">
              <a:ext uri="{FF2B5EF4-FFF2-40B4-BE49-F238E27FC236}">
                <a16:creationId xmlns:a16="http://schemas.microsoft.com/office/drawing/2014/main" id="{BADFBEC5-B311-4385-8733-50FF89EBB1B6}"/>
              </a:ext>
            </a:extLst>
          </p:cNvPr>
          <p:cNvSpPr>
            <a:spLocks xmlns:a="http://schemas.openxmlformats.org/drawingml/2006/main" noGrp="1"/>
          </p:cNvSpPr>
          <p:nvPr/>
        </p:nvSpPr>
        <p:spPr>
          <a:xfrm xmlns:a="http://schemas.openxmlformats.org/drawingml/2006/main">
            <a:off x="9077325" y="5743575"/>
            <a:ext cx="876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667085"/>
                </a:solidFill>
                <a:latin typeface="Segoe UI"/>
                <a:ea typeface="Segoe UI"/>
                <a:cs typeface="Segoe UI"/>
              </a:defRPr>
            </a:pPr>
            <a:r>
              <a:rPr sz="1125" b="0">
                <a:solidFill>
                  <a:srgbClr val="667085"/>
                </a:solidFill>
                <a:latin typeface="Segoe UI"/>
                <a:ea typeface="Segoe UI"/>
                <a:cs typeface="Segoe UI"/>
              </a:rPr>
              <a:t>QR y posventa</a:t>
            </a:r>
          </a:p>
        </p:txBody>
      </p:sp>
      <p:sp>
        <p:nvSpPr>
          <p:cNvPr id="28" name="">
            <a:extLst xmlns:a="http://schemas.openxmlformats.org/drawingml/2006/main">
              <a:ext uri="{FF2B5EF4-FFF2-40B4-BE49-F238E27FC236}">
                <a16:creationId xmlns:a16="http://schemas.microsoft.com/office/drawing/2014/main" id="{29FF50F5-163A-4B75-898F-CD556A02DBB3}"/>
              </a:ext>
            </a:extLst>
          </p:cNvPr>
          <p:cNvSpPr>
            <a:spLocks xmlns:a="http://schemas.openxmlformats.org/drawingml/2006/main" noGrp="1"/>
          </p:cNvSpPr>
          <p:nvPr/>
        </p:nvSpPr>
        <p:spPr>
          <a:xfrm xmlns:a="http://schemas.openxmlformats.org/drawingml/2006/main">
            <a:off x="10287000" y="5219700"/>
            <a:ext cx="400050" cy="400050"/>
          </a:xfrm>
          <a:prstGeom xmlns:a="http://schemas.openxmlformats.org/drawingml/2006/main" prst="roundRect">
            <a:avLst>
              <a:gd name="adj" fmla="val 19048"/>
            </a:avLst>
          </a:prstGeom>
          <a:solidFill xmlns:a="http://schemas.openxmlformats.org/drawingml/2006/main">
            <a:srgbClr val="7C3AED"/>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901450B3-F0E6-4CBA-84AE-4EA95070980D}"/>
              </a:ext>
            </a:extLst>
          </p:cNvPr>
          <p:cNvSpPr>
            <a:spLocks xmlns:a="http://schemas.openxmlformats.org/drawingml/2006/main" noGrp="1"/>
          </p:cNvSpPr>
          <p:nvPr/>
        </p:nvSpPr>
        <p:spPr>
          <a:xfrm xmlns:a="http://schemas.openxmlformats.org/drawingml/2006/main">
            <a:off x="10287000" y="531495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FFFFFF"/>
                </a:solidFill>
                <a:latin typeface="Segoe UI"/>
                <a:ea typeface="Segoe UI"/>
                <a:cs typeface="Segoe UI"/>
              </a:defRPr>
            </a:pPr>
            <a:r>
              <a:rPr sz="1350" b="1">
                <a:solidFill>
                  <a:srgbClr val="FFFFFF"/>
                </a:solidFill>
                <a:latin typeface="Segoe UI"/>
                <a:ea typeface="Segoe UI"/>
                <a:cs typeface="Segoe UI"/>
              </a:rPr>
              <a:t>6</a:t>
            </a:r>
          </a:p>
        </p:txBody>
      </p:sp>
      <p:sp>
        <p:nvSpPr>
          <p:cNvPr id="30" name="">
            <a:extLst xmlns:a="http://schemas.openxmlformats.org/drawingml/2006/main">
              <a:ext uri="{FF2B5EF4-FFF2-40B4-BE49-F238E27FC236}">
                <a16:creationId xmlns:a16="http://schemas.microsoft.com/office/drawing/2014/main" id="{96430F17-B41B-4367-9766-4192E48AD245}"/>
              </a:ext>
            </a:extLst>
          </p:cNvPr>
          <p:cNvSpPr>
            <a:spLocks xmlns:a="http://schemas.openxmlformats.org/drawingml/2006/main" noGrp="1"/>
          </p:cNvSpPr>
          <p:nvPr/>
        </p:nvSpPr>
        <p:spPr>
          <a:xfrm xmlns:a="http://schemas.openxmlformats.org/drawingml/2006/main">
            <a:off x="10048875" y="5743575"/>
            <a:ext cx="876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667085"/>
                </a:solidFill>
                <a:latin typeface="Segoe UI"/>
                <a:ea typeface="Segoe UI"/>
                <a:cs typeface="Segoe UI"/>
              </a:defRPr>
            </a:pPr>
            <a:r>
              <a:rPr sz="1125" b="0">
                <a:solidFill>
                  <a:srgbClr val="667085"/>
                </a:solidFill>
                <a:latin typeface="Segoe UI"/>
                <a:ea typeface="Segoe UI"/>
                <a:cs typeface="Segoe UI"/>
              </a:rPr>
              <a:t>Probar</a:t>
            </a:r>
          </a:p>
        </p:txBody>
      </p:sp>
      <p:sp>
        <p:nvSpPr>
          <p:cNvPr id="31" name="">
            <a:extLst xmlns:a="http://schemas.openxmlformats.org/drawingml/2006/main">
              <a:ext uri="{FF2B5EF4-FFF2-40B4-BE49-F238E27FC236}">
                <a16:creationId xmlns:a16="http://schemas.microsoft.com/office/drawing/2014/main" id="{D94373EB-E6FA-47D7-ABF1-5778CE5DD68B}"/>
              </a:ext>
            </a:extLst>
          </p:cNvPr>
          <p:cNvSpPr>
            <a:spLocks xmlns:a="http://schemas.openxmlformats.org/drawingml/2006/main" noGrp="1"/>
          </p:cNvSpPr>
          <p:nvPr/>
        </p:nvSpPr>
        <p:spPr>
          <a:xfrm xmlns:a="http://schemas.openxmlformats.org/drawingml/2006/main">
            <a:off x="10353675" y="6153150"/>
            <a:ext cx="1171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75" b="1">
                <a:solidFill>
                  <a:srgbClr val="7C3AED"/>
                </a:solidFill>
                <a:latin typeface="Segoe UI"/>
                <a:ea typeface="Segoe UI"/>
                <a:cs typeface="Segoe UI"/>
              </a:defRPr>
            </a:pPr>
            <a:r>
              <a:rPr sz="1275" b="1">
                <a:solidFill>
                  <a:srgbClr val="7C3AED"/>
                </a:solidFill>
                <a:latin typeface="Segoe UI"/>
                <a:ea typeface="Segoe UI"/>
                <a:cs typeface="Segoe UI"/>
              </a:rPr>
              <a:t>6 semanas</a:t>
            </a:r>
          </a:p>
        </p:txBody>
      </p:sp>
      <p:sp>
        <p:nvSpPr>
          <p:cNvPr id="32" name="">
            <a:extLst xmlns:a="http://schemas.openxmlformats.org/drawingml/2006/main">
              <a:ext uri="{FF2B5EF4-FFF2-40B4-BE49-F238E27FC236}">
                <a16:creationId xmlns:a16="http://schemas.microsoft.com/office/drawing/2014/main" id="{83D2C750-1991-47D0-9203-2A4C0A8B44AD}"/>
              </a:ext>
            </a:extLst>
          </p:cNvPr>
          <p:cNvSpPr>
            <a:spLocks xmlns:a="http://schemas.openxmlformats.org/drawingml/2006/main" noGrp="1"/>
          </p:cNvSpPr>
          <p:nvPr/>
        </p:nvSpPr>
        <p:spPr>
          <a:xfrm xmlns:a="http://schemas.openxmlformats.org/drawingml/2006/main">
            <a:off x="666750" y="6486525"/>
            <a:ext cx="10858500" cy="0"/>
          </a:xfrm>
          <a:prstGeom xmlns:a="http://schemas.openxmlformats.org/drawingml/2006/main" prst="line">
            <a:avLst/>
          </a:prstGeom>
          <a:noFill xmlns:a="http://schemas.openxmlformats.org/drawingml/2006/main"/>
          <a:ln xmlns:a="http://schemas.openxmlformats.org/drawingml/2006/main" w="9525">
            <a:solidFill>
              <a:srgbClr val="E4E7EC"/>
            </a:solidFill>
          </a:ln>
        </p:spPr>
      </p:sp>
      <p:sp>
        <p:nvSpPr>
          <p:cNvPr id="33" name="">
            <a:extLst xmlns:a="http://schemas.openxmlformats.org/drawingml/2006/main">
              <a:ext uri="{FF2B5EF4-FFF2-40B4-BE49-F238E27FC236}">
                <a16:creationId xmlns:a16="http://schemas.microsoft.com/office/drawing/2014/main" id="{F0367553-7033-4130-8B8D-7FA3789E86B5}"/>
              </a:ext>
            </a:extLst>
          </p:cNvPr>
          <p:cNvSpPr>
            <a:spLocks xmlns:a="http://schemas.openxmlformats.org/drawingml/2006/main" noGrp="1"/>
          </p:cNvSpPr>
          <p:nvPr/>
        </p:nvSpPr>
        <p:spPr>
          <a:xfrm xmlns:a="http://schemas.openxmlformats.org/drawingml/2006/main">
            <a:off x="666750" y="6553200"/>
            <a:ext cx="323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0">
                <a:solidFill>
                  <a:srgbClr val="667085"/>
                </a:solidFill>
                <a:latin typeface="Segoe UI"/>
                <a:ea typeface="Segoe UI"/>
                <a:cs typeface="Segoe UI"/>
              </a:defRPr>
            </a:pPr>
            <a:r>
              <a:rPr sz="1050" b="0">
                <a:solidFill>
                  <a:srgbClr val="667085"/>
                </a:solidFill>
                <a:latin typeface="Segoe UI"/>
                <a:ea typeface="Segoe UI"/>
                <a:cs typeface="Segoe UI"/>
              </a:rPr>
              <a:t>FOX Bus - Avance 1 - Grupo 6</a:t>
            </a:r>
          </a:p>
        </p:txBody>
      </p:sp>
      <p:sp>
        <p:nvSpPr>
          <p:cNvPr id="34" name="">
            <a:extLst xmlns:a="http://schemas.openxmlformats.org/drawingml/2006/main">
              <a:ext uri="{FF2B5EF4-FFF2-40B4-BE49-F238E27FC236}">
                <a16:creationId xmlns:a16="http://schemas.microsoft.com/office/drawing/2014/main" id="{A5025421-E811-4B49-B8E4-FFF2D2D11D6A}"/>
              </a:ext>
            </a:extLst>
          </p:cNvPr>
          <p:cNvSpPr>
            <a:spLocks xmlns:a="http://schemas.openxmlformats.org/drawingml/2006/main" noGrp="1"/>
          </p:cNvSpPr>
          <p:nvPr/>
        </p:nvSpPr>
        <p:spPr>
          <a:xfrm xmlns:a="http://schemas.openxmlformats.org/drawingml/2006/main">
            <a:off x="11144250" y="65532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050" b="0">
                <a:solidFill>
                  <a:srgbClr val="667085"/>
                </a:solidFill>
                <a:latin typeface="Segoe UI"/>
                <a:ea typeface="Segoe UI"/>
                <a:cs typeface="Segoe UI"/>
              </a:defRPr>
            </a:pPr>
            <a:r>
              <a:rPr sz="1050" b="0">
                <a:solidFill>
                  <a:srgbClr val="667085"/>
                </a:solidFill>
                <a:latin typeface="Segoe UI"/>
                <a:ea typeface="Segoe UI"/>
                <a:cs typeface="Segoe UI"/>
              </a:rPr>
              <a:t>5</a:t>
            </a:r>
          </a:p>
        </p:txBody>
      </p:sp>
    </p:spTree>
    <p:extLst>
      <p:ext uri="{BB962C8B-B14F-4D97-AF65-F5344CB8AC3E}">
        <p14:creationId xmlns:p14="http://schemas.microsoft.com/office/powerpoint/2010/main" val="271866084"/>
      </p:ext>
    </p:extLst>
  </p:cSld>
</p:sld>
</file>

<file path=ppt/slides/slide6.xml><?xml version="1.0" encoding="utf-8"?>
<p:sld xmlns:p="http://schemas.openxmlformats.org/presentationml/2006/main">
  <p:cSld>
    <p:bg>
      <p:bgPr>
        <a:solidFill xmlns:a="http://schemas.openxmlformats.org/drawingml/2006/main">
          <a:srgbClr val="15182D"/>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0B48A3B-03D2-46E4-A0CD-6CE58914ED6B}"/>
              </a:ext>
            </a:extLst>
          </p:cNvPr>
          <p:cNvSpPr>
            <a:spLocks xmlns:a="http://schemas.openxmlformats.org/drawingml/2006/main" noGrp="1"/>
          </p:cNvSpPr>
          <p:nvPr/>
        </p:nvSpPr>
        <p:spPr>
          <a:xfrm xmlns:a="http://schemas.openxmlformats.org/drawingml/2006/main">
            <a:off x="666750" y="400050"/>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FFB9D6"/>
                </a:solidFill>
                <a:latin typeface="Segoe UI"/>
                <a:ea typeface="Segoe UI"/>
                <a:cs typeface="Segoe UI"/>
              </a:defRPr>
            </a:pPr>
            <a:r>
              <a:rPr sz="1350" b="1">
                <a:solidFill>
                  <a:srgbClr val="FFB9D6"/>
                </a:solidFill>
                <a:latin typeface="Segoe UI"/>
                <a:ea typeface="Segoe UI"/>
                <a:cs typeface="Segoe UI"/>
              </a:rPr>
              <a:t>PLAN DE EVIDENCIA</a:t>
            </a:r>
          </a:p>
        </p:txBody>
      </p:sp>
      <p:sp>
        <p:nvSpPr>
          <p:cNvPr id="2" name="">
            <a:extLst xmlns:a="http://schemas.openxmlformats.org/drawingml/2006/main">
              <a:ext uri="{FF2B5EF4-FFF2-40B4-BE49-F238E27FC236}">
                <a16:creationId xmlns:a16="http://schemas.microsoft.com/office/drawing/2014/main" id="{D9496D72-28CA-4BD5-A2E1-5484A35826B6}"/>
              </a:ext>
            </a:extLst>
          </p:cNvPr>
          <p:cNvSpPr>
            <a:spLocks xmlns:a="http://schemas.openxmlformats.org/drawingml/2006/main" noGrp="1"/>
          </p:cNvSpPr>
          <p:nvPr/>
        </p:nvSpPr>
        <p:spPr>
          <a:xfrm xmlns:a="http://schemas.openxmlformats.org/drawingml/2006/main">
            <a:off x="666750" y="74295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600" b="1">
                <a:solidFill>
                  <a:srgbClr val="FFFFFF"/>
                </a:solidFill>
                <a:latin typeface="Segoe UI"/>
                <a:ea typeface="Segoe UI"/>
                <a:cs typeface="Segoe UI"/>
              </a:defRPr>
            </a:pPr>
            <a:r>
              <a:rPr sz="3600" b="1">
                <a:solidFill>
                  <a:srgbClr val="FFFFFF"/>
                </a:solidFill>
                <a:latin typeface="Segoe UI"/>
                <a:ea typeface="Segoe UI"/>
                <a:cs typeface="Segoe UI"/>
              </a:rPr>
              <a:t>Validación y próximos pasos</a:t>
            </a:r>
          </a:p>
        </p:txBody>
      </p:sp>
      <p:sp>
        <p:nvSpPr>
          <p:cNvPr id="3" name="">
            <a:extLst xmlns:a="http://schemas.openxmlformats.org/drawingml/2006/main">
              <a:ext uri="{FF2B5EF4-FFF2-40B4-BE49-F238E27FC236}">
                <a16:creationId xmlns:a16="http://schemas.microsoft.com/office/drawing/2014/main" id="{AAC7E022-DF76-4796-B614-7564E23EBA83}"/>
              </a:ext>
            </a:extLst>
          </p:cNvPr>
          <p:cNvSpPr>
            <a:spLocks xmlns:a="http://schemas.openxmlformats.org/drawingml/2006/main" noGrp="1"/>
          </p:cNvSpPr>
          <p:nvPr/>
        </p:nvSpPr>
        <p:spPr>
          <a:xfrm xmlns:a="http://schemas.openxmlformats.org/drawingml/2006/main">
            <a:off x="666750" y="1809750"/>
            <a:ext cx="342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6450" b="1">
                <a:solidFill>
                  <a:srgbClr val="F53D91"/>
                </a:solidFill>
                <a:latin typeface="Segoe UI"/>
                <a:ea typeface="Segoe UI"/>
                <a:cs typeface="Segoe UI"/>
              </a:defRPr>
            </a:pPr>
            <a:r>
              <a:rPr sz="6450" b="1">
                <a:solidFill>
                  <a:srgbClr val="F53D91"/>
                </a:solidFill>
                <a:latin typeface="Segoe UI"/>
                <a:ea typeface="Segoe UI"/>
                <a:cs typeface="Segoe UI"/>
              </a:rPr>
              <a:t>5 + 2</a:t>
            </a:r>
          </a:p>
        </p:txBody>
      </p:sp>
      <p:sp>
        <p:nvSpPr>
          <p:cNvPr id="4" name="">
            <a:extLst xmlns:a="http://schemas.openxmlformats.org/drawingml/2006/main">
              <a:ext uri="{FF2B5EF4-FFF2-40B4-BE49-F238E27FC236}">
                <a16:creationId xmlns:a16="http://schemas.microsoft.com/office/drawing/2014/main" id="{E3A6CA7F-CAE2-4B93-9B8B-3C40456E4C6A}"/>
              </a:ext>
            </a:extLst>
          </p:cNvPr>
          <p:cNvSpPr>
            <a:spLocks xmlns:a="http://schemas.openxmlformats.org/drawingml/2006/main" noGrp="1"/>
          </p:cNvSpPr>
          <p:nvPr/>
        </p:nvSpPr>
        <p:spPr>
          <a:xfrm xmlns:a="http://schemas.openxmlformats.org/drawingml/2006/main">
            <a:off x="685800" y="2781300"/>
            <a:ext cx="4095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0">
                <a:solidFill>
                  <a:srgbClr val="FFFFFF"/>
                </a:solidFill>
                <a:latin typeface="Segoe UI"/>
                <a:ea typeface="Segoe UI"/>
                <a:cs typeface="Segoe UI"/>
              </a:defRPr>
            </a:pPr>
            <a:r>
              <a:rPr sz="1875" b="0">
                <a:solidFill>
                  <a:srgbClr val="FFFFFF"/>
                </a:solidFill>
                <a:latin typeface="Segoe UI"/>
                <a:ea typeface="Segoe UI"/>
                <a:cs typeface="Segoe UI"/>
              </a:rPr>
              <a:t>Cinco pasajeros y dos personas con experiencia operativa como muestra inicial sugerida.</a:t>
            </a:r>
          </a:p>
        </p:txBody>
      </p:sp>
      <p:sp>
        <p:nvSpPr>
          <p:cNvPr id="5" name="">
            <a:extLst xmlns:a="http://schemas.openxmlformats.org/drawingml/2006/main">
              <a:ext uri="{FF2B5EF4-FFF2-40B4-BE49-F238E27FC236}">
                <a16:creationId xmlns:a16="http://schemas.microsoft.com/office/drawing/2014/main" id="{704AB7FF-8A49-46AB-95B4-92D0D075F277}"/>
              </a:ext>
            </a:extLst>
          </p:cNvPr>
          <p:cNvSpPr>
            <a:spLocks xmlns:a="http://schemas.openxmlformats.org/drawingml/2006/main" noGrp="1"/>
          </p:cNvSpPr>
          <p:nvPr/>
        </p:nvSpPr>
        <p:spPr>
          <a:xfrm xmlns:a="http://schemas.openxmlformats.org/drawingml/2006/main">
            <a:off x="685800" y="3905250"/>
            <a:ext cx="4095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BFC5D8"/>
                </a:solidFill>
                <a:latin typeface="Segoe UI"/>
                <a:ea typeface="Segoe UI"/>
                <a:cs typeface="Segoe UI"/>
              </a:defRPr>
            </a:pPr>
            <a:r>
              <a:rPr sz="1500" b="0">
                <a:solidFill>
                  <a:srgbClr val="BFC5D8"/>
                </a:solidFill>
                <a:latin typeface="Segoe UI"/>
                <a:ea typeface="Segoe UI"/>
                <a:cs typeface="Segoe UI"/>
              </a:rPr>
              <a:t>La muestra todavía no representa resultados. Sirve para validar la hipótesis y priorizar el siguiente desarrollo.</a:t>
            </a:r>
          </a:p>
        </p:txBody>
      </p:sp>
      <p:sp>
        <p:nvSpPr>
          <p:cNvPr id="6" name="">
            <a:extLst xmlns:a="http://schemas.openxmlformats.org/drawingml/2006/main">
              <a:ext uri="{FF2B5EF4-FFF2-40B4-BE49-F238E27FC236}">
                <a16:creationId xmlns:a16="http://schemas.microsoft.com/office/drawing/2014/main" id="{23DEEE64-ED51-4271-8E31-A802528D7919}"/>
              </a:ext>
            </a:extLst>
          </p:cNvPr>
          <p:cNvSpPr>
            <a:spLocks xmlns:a="http://schemas.openxmlformats.org/drawingml/2006/main" noGrp="1"/>
          </p:cNvSpPr>
          <p:nvPr/>
        </p:nvSpPr>
        <p:spPr>
          <a:xfrm xmlns:a="http://schemas.openxmlformats.org/drawingml/2006/main">
            <a:off x="5619750" y="1752600"/>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FFFFFF"/>
                </a:solidFill>
                <a:latin typeface="Segoe UI"/>
                <a:ea typeface="Segoe UI"/>
                <a:cs typeface="Segoe UI"/>
              </a:defRPr>
            </a:pPr>
            <a:r>
              <a:rPr sz="2400" b="1">
                <a:solidFill>
                  <a:srgbClr val="FFFFFF"/>
                </a:solidFill>
                <a:latin typeface="Segoe UI"/>
                <a:ea typeface="Segoe UI"/>
                <a:cs typeface="Segoe UI"/>
              </a:rPr>
              <a:t>Qué mediremos</a:t>
            </a:r>
          </a:p>
        </p:txBody>
      </p:sp>
      <p:sp>
        <p:nvSpPr>
          <p:cNvPr id="7" name="">
            <a:extLst xmlns:a="http://schemas.openxmlformats.org/drawingml/2006/main">
              <a:ext uri="{FF2B5EF4-FFF2-40B4-BE49-F238E27FC236}">
                <a16:creationId xmlns:a16="http://schemas.microsoft.com/office/drawing/2014/main" id="{3968CBC8-FE4D-47F5-B2A4-7275F13FCAA1}"/>
              </a:ext>
            </a:extLst>
          </p:cNvPr>
          <p:cNvSpPr>
            <a:spLocks xmlns:a="http://schemas.openxmlformats.org/drawingml/2006/main" noGrp="1"/>
          </p:cNvSpPr>
          <p:nvPr/>
        </p:nvSpPr>
        <p:spPr>
          <a:xfrm xmlns:a="http://schemas.openxmlformats.org/drawingml/2006/main">
            <a:off x="5638800" y="2324100"/>
            <a:ext cx="547687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41300" indent="-114300">
              <a:spcAft>
                <a:spcPts val="900"/>
              </a:spcAft>
              <a:buChar char="•"/>
              <a:defRPr sz="1725">
                <a:solidFill>
                  <a:srgbClr val="FFFFFF"/>
                </a:solidFill>
                <a:latin typeface="Segoe UI"/>
                <a:ea typeface="Segoe UI"/>
                <a:cs typeface="Segoe UI"/>
              </a:defRPr>
            </a:pPr>
            <a:r>
              <a:rPr sz="1725">
                <a:solidFill>
                  <a:srgbClr val="FFFFFF"/>
                </a:solidFill>
                <a:latin typeface="Segoe UI"/>
                <a:ea typeface="Segoe UI"/>
                <a:cs typeface="Segoe UI"/>
              </a:rPr>
              <a:t>Canales y pasos repetidos durante una gestión.</a:t>
            </a:r>
          </a:p>
          <a:p xmlns:a="http://schemas.openxmlformats.org/drawingml/2006/main">
            <a:pPr marL="241300" indent="-114300">
              <a:spcAft>
                <a:spcPts val="900"/>
              </a:spcAft>
              <a:buChar char="•"/>
              <a:defRPr sz="1725">
                <a:solidFill>
                  <a:srgbClr val="FFFFFF"/>
                </a:solidFill>
                <a:latin typeface="Segoe UI"/>
                <a:ea typeface="Segoe UI"/>
                <a:cs typeface="Segoe UI"/>
              </a:defRPr>
            </a:pPr>
            <a:r>
              <a:rPr sz="1725">
                <a:solidFill>
                  <a:srgbClr val="FFFFFF"/>
                </a:solidFill>
                <a:latin typeface="Segoe UI"/>
                <a:ea typeface="Segoe UI"/>
                <a:cs typeface="Segoe UI"/>
              </a:rPr>
              <a:t>Comprensión del viaje, asiento y estado de la reserva.</a:t>
            </a:r>
          </a:p>
          <a:p xmlns:a="http://schemas.openxmlformats.org/drawingml/2006/main">
            <a:pPr marL="241300" indent="-114300">
              <a:spcAft>
                <a:spcPts val="900"/>
              </a:spcAft>
              <a:buChar char="•"/>
              <a:defRPr sz="1725">
                <a:solidFill>
                  <a:srgbClr val="FFFFFF"/>
                </a:solidFill>
                <a:latin typeface="Segoe UI"/>
                <a:ea typeface="Segoe UI"/>
                <a:cs typeface="Segoe UI"/>
              </a:defRPr>
            </a:pPr>
            <a:r>
              <a:rPr sz="1725">
                <a:solidFill>
                  <a:srgbClr val="FFFFFF"/>
                </a:solidFill>
                <a:latin typeface="Segoe UI"/>
                <a:ea typeface="Segoe UI"/>
                <a:cs typeface="Segoe UI"/>
              </a:rPr>
              <a:t>Capacidad para encontrar la opción correcta de posventa.</a:t>
            </a:r>
          </a:p>
          <a:p xmlns:a="http://schemas.openxmlformats.org/drawingml/2006/main">
            <a:pPr marL="241300" indent="-114300">
              <a:spcAft>
                <a:spcPts val="900"/>
              </a:spcAft>
              <a:buChar char="•"/>
              <a:defRPr sz="1725">
                <a:solidFill>
                  <a:srgbClr val="FFFFFF"/>
                </a:solidFill>
                <a:latin typeface="Segoe UI"/>
                <a:ea typeface="Segoe UI"/>
                <a:cs typeface="Segoe UI"/>
              </a:defRPr>
            </a:pPr>
            <a:r>
              <a:rPr sz="1725">
                <a:solidFill>
                  <a:srgbClr val="FFFFFF"/>
                </a:solidFill>
                <a:latin typeface="Segoe UI"/>
                <a:ea typeface="Segoe UI"/>
                <a:cs typeface="Segoe UI"/>
              </a:rPr>
              <a:t>Información mínima que el operador necesita en el panel.</a:t>
            </a:r>
          </a:p>
        </p:txBody>
      </p:sp>
      <p:sp>
        <p:nvSpPr>
          <p:cNvPr id="8" name="">
            <a:extLst xmlns:a="http://schemas.openxmlformats.org/drawingml/2006/main">
              <a:ext uri="{FF2B5EF4-FFF2-40B4-BE49-F238E27FC236}">
                <a16:creationId xmlns:a16="http://schemas.microsoft.com/office/drawing/2014/main" id="{A9981DE6-4F2E-4EB0-9255-91CAD1811EC4}"/>
              </a:ext>
            </a:extLst>
          </p:cNvPr>
          <p:cNvSpPr>
            <a:spLocks xmlns:a="http://schemas.openxmlformats.org/drawingml/2006/main" noGrp="1"/>
          </p:cNvSpPr>
          <p:nvPr/>
        </p:nvSpPr>
        <p:spPr>
          <a:xfrm xmlns:a="http://schemas.openxmlformats.org/drawingml/2006/main">
            <a:off x="5429250" y="4705350"/>
            <a:ext cx="6096000" cy="1333500"/>
          </a:xfrm>
          <a:prstGeom xmlns:a="http://schemas.openxmlformats.org/drawingml/2006/main" prst="roundRect">
            <a:avLst>
              <a:gd name="adj" fmla="val 5714"/>
            </a:avLst>
          </a:prstGeom>
          <a:solidFill xmlns:a="http://schemas.openxmlformats.org/drawingml/2006/main">
            <a:srgbClr val="22264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DDD03F6-FB63-496B-AE59-EEC42242D617}"/>
              </a:ext>
            </a:extLst>
          </p:cNvPr>
          <p:cNvSpPr>
            <a:spLocks xmlns:a="http://schemas.openxmlformats.org/drawingml/2006/main" noGrp="1"/>
          </p:cNvSpPr>
          <p:nvPr/>
        </p:nvSpPr>
        <p:spPr>
          <a:xfrm xmlns:a="http://schemas.openxmlformats.org/drawingml/2006/main">
            <a:off x="5429250" y="4705350"/>
            <a:ext cx="76200" cy="1333500"/>
          </a:xfrm>
          <a:prstGeom xmlns:a="http://schemas.openxmlformats.org/drawingml/2006/main" prst="roundRect">
            <a:avLst>
              <a:gd name="adj" fmla="val 50000"/>
            </a:avLst>
          </a:prstGeom>
          <a:solidFill xmlns:a="http://schemas.openxmlformats.org/drawingml/2006/main">
            <a:srgbClr val="F53D91"/>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DC42142-8F43-4D30-844D-4CC58A20075D}"/>
              </a:ext>
            </a:extLst>
          </p:cNvPr>
          <p:cNvSpPr>
            <a:spLocks xmlns:a="http://schemas.openxmlformats.org/drawingml/2006/main" noGrp="1"/>
          </p:cNvSpPr>
          <p:nvPr/>
        </p:nvSpPr>
        <p:spPr>
          <a:xfrm xmlns:a="http://schemas.openxmlformats.org/drawingml/2006/main">
            <a:off x="5695950" y="4857750"/>
            <a:ext cx="142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FFB9D6"/>
                </a:solidFill>
                <a:latin typeface="Segoe UI"/>
                <a:ea typeface="Segoe UI"/>
                <a:cs typeface="Segoe UI"/>
              </a:defRPr>
            </a:pPr>
            <a:r>
              <a:rPr sz="1725" b="1">
                <a:solidFill>
                  <a:srgbClr val="FFB9D6"/>
                </a:solidFill>
                <a:latin typeface="Segoe UI"/>
                <a:ea typeface="Segoe UI"/>
                <a:cs typeface="Segoe UI"/>
              </a:rPr>
              <a:t>Cierre</a:t>
            </a:r>
          </a:p>
        </p:txBody>
      </p:sp>
      <p:sp>
        <p:nvSpPr>
          <p:cNvPr id="11" name="">
            <a:extLst xmlns:a="http://schemas.openxmlformats.org/drawingml/2006/main">
              <a:ext uri="{FF2B5EF4-FFF2-40B4-BE49-F238E27FC236}">
                <a16:creationId xmlns:a16="http://schemas.microsoft.com/office/drawing/2014/main" id="{48D22E1E-A730-4D70-8424-3B5C7FECF025}"/>
              </a:ext>
            </a:extLst>
          </p:cNvPr>
          <p:cNvSpPr>
            <a:spLocks xmlns:a="http://schemas.openxmlformats.org/drawingml/2006/main" noGrp="1"/>
          </p:cNvSpPr>
          <p:nvPr/>
        </p:nvSpPr>
        <p:spPr>
          <a:xfrm xmlns:a="http://schemas.openxmlformats.org/drawingml/2006/main">
            <a:off x="5695950" y="5219700"/>
            <a:ext cx="5429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FFFFFF"/>
                </a:solidFill>
                <a:latin typeface="Segoe UI"/>
                <a:ea typeface="Segoe UI"/>
                <a:cs typeface="Segoe UI"/>
              </a:defRPr>
            </a:pPr>
            <a:r>
              <a:rPr sz="1575" b="1">
                <a:solidFill>
                  <a:srgbClr val="FFFFFF"/>
                </a:solidFill>
                <a:latin typeface="Segoe UI"/>
                <a:ea typeface="Segoe UI"/>
                <a:cs typeface="Segoe UI"/>
              </a:rPr>
              <a:t>FOX Bus mantiene una sola reserva desde la compra hasta la posventa y validará su valor antes de escalar.</a:t>
            </a:r>
          </a:p>
        </p:txBody>
      </p:sp>
      <p:sp>
        <p:nvSpPr>
          <p:cNvPr id="12" name="">
            <a:extLst xmlns:a="http://schemas.openxmlformats.org/drawingml/2006/main">
              <a:ext uri="{FF2B5EF4-FFF2-40B4-BE49-F238E27FC236}">
                <a16:creationId xmlns:a16="http://schemas.microsoft.com/office/drawing/2014/main" id="{2F85D6AF-93C6-4DF0-9EF6-52015ADAA187}"/>
              </a:ext>
            </a:extLst>
          </p:cNvPr>
          <p:cNvSpPr>
            <a:spLocks xmlns:a="http://schemas.openxmlformats.org/drawingml/2006/main" noGrp="1"/>
          </p:cNvSpPr>
          <p:nvPr/>
        </p:nvSpPr>
        <p:spPr>
          <a:xfrm xmlns:a="http://schemas.openxmlformats.org/drawingml/2006/main">
            <a:off x="666750" y="6486525"/>
            <a:ext cx="10858500" cy="0"/>
          </a:xfrm>
          <a:prstGeom xmlns:a="http://schemas.openxmlformats.org/drawingml/2006/main" prst="line">
            <a:avLst/>
          </a:prstGeom>
          <a:noFill xmlns:a="http://schemas.openxmlformats.org/drawingml/2006/main"/>
          <a:ln xmlns:a="http://schemas.openxmlformats.org/drawingml/2006/main" w="9525">
            <a:solidFill>
              <a:srgbClr val="35394E"/>
            </a:solidFill>
          </a:ln>
        </p:spPr>
      </p:sp>
      <p:sp>
        <p:nvSpPr>
          <p:cNvPr id="13" name="">
            <a:extLst xmlns:a="http://schemas.openxmlformats.org/drawingml/2006/main">
              <a:ext uri="{FF2B5EF4-FFF2-40B4-BE49-F238E27FC236}">
                <a16:creationId xmlns:a16="http://schemas.microsoft.com/office/drawing/2014/main" id="{F137E99D-CF4F-4C1C-A729-18AF6B719372}"/>
              </a:ext>
            </a:extLst>
          </p:cNvPr>
          <p:cNvSpPr>
            <a:spLocks xmlns:a="http://schemas.openxmlformats.org/drawingml/2006/main" noGrp="1"/>
          </p:cNvSpPr>
          <p:nvPr/>
        </p:nvSpPr>
        <p:spPr>
          <a:xfrm xmlns:a="http://schemas.openxmlformats.org/drawingml/2006/main">
            <a:off x="666750" y="6553200"/>
            <a:ext cx="323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0">
                <a:solidFill>
                  <a:srgbClr val="AEB4C9"/>
                </a:solidFill>
                <a:latin typeface="Segoe UI"/>
                <a:ea typeface="Segoe UI"/>
                <a:cs typeface="Segoe UI"/>
              </a:defRPr>
            </a:pPr>
            <a:r>
              <a:rPr sz="1050" b="0">
                <a:solidFill>
                  <a:srgbClr val="AEB4C9"/>
                </a:solidFill>
                <a:latin typeface="Segoe UI"/>
                <a:ea typeface="Segoe UI"/>
                <a:cs typeface="Segoe UI"/>
              </a:rPr>
              <a:t>FOX Bus - Avance 1 - Grupo 6</a:t>
            </a:r>
          </a:p>
        </p:txBody>
      </p:sp>
      <p:sp>
        <p:nvSpPr>
          <p:cNvPr id="14" name="">
            <a:extLst xmlns:a="http://schemas.openxmlformats.org/drawingml/2006/main">
              <a:ext uri="{FF2B5EF4-FFF2-40B4-BE49-F238E27FC236}">
                <a16:creationId xmlns:a16="http://schemas.microsoft.com/office/drawing/2014/main" id="{F77DF227-EC83-4F11-B5B7-A534CAB7C116}"/>
              </a:ext>
            </a:extLst>
          </p:cNvPr>
          <p:cNvSpPr>
            <a:spLocks xmlns:a="http://schemas.openxmlformats.org/drawingml/2006/main" noGrp="1"/>
          </p:cNvSpPr>
          <p:nvPr/>
        </p:nvSpPr>
        <p:spPr>
          <a:xfrm xmlns:a="http://schemas.openxmlformats.org/drawingml/2006/main">
            <a:off x="11144250" y="65532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050" b="0">
                <a:solidFill>
                  <a:srgbClr val="AEB4C9"/>
                </a:solidFill>
                <a:latin typeface="Segoe UI"/>
                <a:ea typeface="Segoe UI"/>
                <a:cs typeface="Segoe UI"/>
              </a:defRPr>
            </a:pPr>
            <a:r>
              <a:rPr sz="1050" b="0">
                <a:solidFill>
                  <a:srgbClr val="AEB4C9"/>
                </a:solidFill>
                <a:latin typeface="Segoe UI"/>
                <a:ea typeface="Segoe UI"/>
                <a:cs typeface="Segoe UI"/>
              </a:rPr>
              <a:t>6</a:t>
            </a:r>
          </a:p>
        </p:txBody>
      </p:sp>
    </p:spTree>
    <p:extLst>
      <p:ext uri="{BB962C8B-B14F-4D97-AF65-F5344CB8AC3E}">
        <p14:creationId xmlns:p14="http://schemas.microsoft.com/office/powerpoint/2010/main" val="7512906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2026-09-07T19:18:22.3180000Z</dcterms:created>
  <dcterms:modified xsi:type="dcterms:W3CDTF">2026-09-07T19:18:22.3180000Z</dcterms:modified>
</coreProperties>
</file>